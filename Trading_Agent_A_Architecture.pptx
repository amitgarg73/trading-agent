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TRADING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6060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3B82F6"/>
                </a:solidFill>
              </a:rPr>
              <a:t>Strategy A — Architecture &amp; 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Single-strategy pipeline  |  430+ ticker universe  |  claude-sonnet-4-6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Version 5.23   |   June 2026   |   Paper Trading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System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2011680" cy="100584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C55E"/>
                </a:solidFill>
              </a:rPr>
              <a:t>$50,000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Account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06624" y="914400"/>
            <a:ext cx="2011680" cy="100584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B82F6"/>
                </a:solidFill>
              </a:rPr>
              <a:t>430+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Universe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6048" y="914400"/>
            <a:ext cx="2011680" cy="1005840"/>
          </a:xfrm>
          <a:prstGeom prst="rect">
            <a:avLst/>
          </a:prstGeom>
          <a:solidFill>
            <a:srgbClr val="78350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59E0B"/>
                </a:solidFill>
              </a:rPr>
              <a:t>1 Claude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call/day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5472" y="914400"/>
            <a:ext cx="2011680" cy="100584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C55E"/>
                </a:solidFill>
              </a:rPr>
              <a:t>$500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Daily Target</a:t>
            </a:r>
          </a:p>
        </p:txBody>
      </p:sp>
      <p:sp>
        <p:nvSpPr>
          <p:cNvPr id="7" name="Rectangle 6"/>
          <p:cNvSpPr/>
          <p:nvPr/>
        </p:nvSpPr>
        <p:spPr>
          <a:xfrm>
            <a:off x="9454896" y="914400"/>
            <a:ext cx="2011680" cy="1005840"/>
          </a:xfrm>
          <a:prstGeom prst="rect">
            <a:avLst/>
          </a:prstGeom>
          <a:solidFill>
            <a:srgbClr val="4A044E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A855F7"/>
                </a:solidFill>
              </a:rPr>
              <a:t>Max 10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Positions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194560"/>
            <a:ext cx="11612880" cy="914400"/>
          </a:xfrm>
          <a:prstGeom prst="rect">
            <a:avLst/>
          </a:prstGeom>
          <a:solidFill>
            <a:srgbClr val="1E3A8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3B82F6"/>
                </a:solidFill>
              </a:rPr>
              <a:t>Premarket  10:00 AM ET</a:t>
            </a:r>
          </a:p>
          <a:p>
            <a:r>
              <a:rPr sz="950">
                <a:solidFill>
                  <a:srgbClr val="CBD5E1"/>
                </a:solidFill>
              </a:rPr>
              <a:t>Market context → 430+ ticker scan → gap-up injection → news filter → ML rank → Claude → risk → sector → ATR → guardrails → bracket orders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200400"/>
            <a:ext cx="11612880" cy="914400"/>
          </a:xfrm>
          <a:prstGeom prst="rect">
            <a:avLst/>
          </a:prstGeom>
          <a:solidFill>
            <a:srgbClr val="14532D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C55E"/>
                </a:solidFill>
              </a:rPr>
              <a:t>Intraday  every 15 min</a:t>
            </a:r>
          </a:p>
          <a:p>
            <a:r>
              <a:rPr sz="950">
                <a:solidFill>
                  <a:srgbClr val="CBD5E1"/>
                </a:solidFill>
              </a:rPr>
              <a:t>Sync positions → check exits (TARGET / STOP / NATIVE_TRAIL / BONUS_TARGET). Entry scans at 10:30 AM and 11:30 AM.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206240"/>
            <a:ext cx="11612880" cy="914400"/>
          </a:xfrm>
          <a:prstGeom prst="rect">
            <a:avLst/>
          </a:prstGeom>
          <a:solidFill>
            <a:srgbClr val="7F1D1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F4444"/>
                </a:solidFill>
              </a:rPr>
              <a:t>EOD  3:55 PM ET</a:t>
            </a:r>
          </a:p>
          <a:p>
            <a:r>
              <a:rPr sz="950">
                <a:solidFill>
                  <a:srgbClr val="CBD5E1"/>
                </a:solidFill>
              </a:rPr>
              <a:t>Force-close all positions → reconcile P&amp;L → write daily_performance → Gmail + ntfy alert.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Premarket Pipeline (Steps 1-11)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" y="914400"/>
            <a:ext cx="1005840" cy="1371600"/>
          </a:xfrm>
          <a:prstGeom prst="rect">
            <a:avLst/>
          </a:prstGeom>
          <a:solidFill>
            <a:srgbClr val="1E3A8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3B82F6"/>
                </a:solidFill>
              </a:rPr>
              <a:t>market_context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GO/CAUTION/SKIP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VIX+Fear&amp;Greed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188720" y="1600200.0"/>
            <a:ext cx="27432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216152" y="914400"/>
            <a:ext cx="1005840" cy="1371600"/>
          </a:xfrm>
          <a:prstGeom prst="rect">
            <a:avLst/>
          </a:prstGeom>
          <a:solidFill>
            <a:srgbClr val="1E3A8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3B82F6"/>
                </a:solidFill>
              </a:rPr>
              <a:t>Scan 430+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RSI/MACD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SMA/ATR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21992" y="1600200.0"/>
            <a:ext cx="27432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249424" y="914400"/>
            <a:ext cx="1005840" cy="1371600"/>
          </a:xfrm>
          <a:prstGeom prst="rect">
            <a:avLst/>
          </a:prstGeom>
          <a:solidFill>
            <a:srgbClr val="1E3A8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3B82F6"/>
                </a:solidFill>
              </a:rPr>
              <a:t>Gap-up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injection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Alpaca &gt;=2%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55264" y="1600200.0"/>
            <a:ext cx="27432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282696" y="914400"/>
            <a:ext cx="1005840" cy="1371600"/>
          </a:xfrm>
          <a:prstGeom prst="rect">
            <a:avLst/>
          </a:prstGeom>
          <a:solidFill>
            <a:srgbClr val="1E3A8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3B82F6"/>
                </a:solidFill>
              </a:rPr>
              <a:t>news_intel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earnings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blackout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88536" y="1600200.0"/>
            <a:ext cx="27432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315968" y="914400"/>
            <a:ext cx="1005840" cy="1371600"/>
          </a:xfrm>
          <a:prstGeom prst="rect">
            <a:avLst/>
          </a:prstGeom>
          <a:solidFill>
            <a:srgbClr val="4A044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A855F7"/>
                </a:solidFill>
              </a:rPr>
              <a:t>Pre-filter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Garbage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filter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321808" y="1600200.0"/>
            <a:ext cx="27432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349240" y="914400"/>
            <a:ext cx="1005840" cy="1371600"/>
          </a:xfrm>
          <a:prstGeom prst="rect">
            <a:avLst/>
          </a:prstGeom>
          <a:solidFill>
            <a:srgbClr val="78350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F59E0B"/>
                </a:solidFill>
              </a:rPr>
              <a:t>ML Scorer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XGBoost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P(+2%)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55080" y="1600200.0"/>
            <a:ext cx="27432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382512" y="914400"/>
            <a:ext cx="1005840" cy="1371600"/>
          </a:xfrm>
          <a:prstGeom prst="rect">
            <a:avLst/>
          </a:prstGeom>
          <a:solidFill>
            <a:srgbClr val="1E3A8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3B82F6"/>
                </a:solidFill>
              </a:rPr>
              <a:t>Live Signals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Alpaca ask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VWAP RS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88352" y="1600200.0"/>
            <a:ext cx="27432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415784" y="914400"/>
            <a:ext cx="1005840" cy="1371600"/>
          </a:xfrm>
          <a:prstGeom prst="rect">
            <a:avLst/>
          </a:prstGeom>
          <a:solidFill>
            <a:srgbClr val="4A044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A855F7"/>
                </a:solidFill>
              </a:rPr>
              <a:t>Signal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Filters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extension ORB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21624" y="1600200.0"/>
            <a:ext cx="27432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449056" y="914400"/>
            <a:ext cx="1005840" cy="1371600"/>
          </a:xfrm>
          <a:prstGeom prst="rect">
            <a:avLst/>
          </a:prstGeom>
          <a:solidFill>
            <a:srgbClr val="78350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F59E0B"/>
                </a:solidFill>
              </a:rPr>
              <a:t>Claude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sonnet-4-6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trades[]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54896" y="1600200.0"/>
            <a:ext cx="27432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9482328" y="914400"/>
            <a:ext cx="1005840" cy="1371600"/>
          </a:xfrm>
          <a:prstGeom prst="rect">
            <a:avLst/>
          </a:prstGeom>
          <a:solidFill>
            <a:srgbClr val="7F1D1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EF4444"/>
                </a:solidFill>
              </a:rPr>
              <a:t>risk +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sector_guard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atr_sizer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88168" y="1600200.0"/>
            <a:ext cx="27432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10515600" y="914400"/>
            <a:ext cx="1005840" cy="1371600"/>
          </a:xfrm>
          <a:prstGeom prst="rect">
            <a:avLst/>
          </a:prstGeom>
          <a:solidFill>
            <a:srgbClr val="14532D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2C55E"/>
                </a:solidFill>
              </a:rPr>
              <a:t>guardrails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→ bracket</a:t>
            </a:r>
          </a:p>
          <a:p>
            <a:pPr algn="ctr"/>
            <a:r>
              <a:rPr sz="750" b="0">
                <a:solidFill>
                  <a:srgbClr val="CBD5E1"/>
                </a:solidFill>
              </a:rPr>
              <a:t>orders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2468880"/>
            <a:ext cx="3657600" cy="320040"/>
          </a:xfrm>
          <a:prstGeom prst="rect">
            <a:avLst/>
          </a:prstGeom>
          <a:solidFill>
            <a:srgbClr val="7F1D1D"/>
          </a:solidFill>
          <a:ln w="19050">
            <a:solidFill>
              <a:srgbClr val="EF4444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F4444"/>
                </a:solidFill>
              </a:rPr>
              <a:t>SKIP: log halt to scan_results and exit early. No trades placed.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" y="2395728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Step 1
Market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2395728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Steps 2-3
Universe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2395728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Step 4
News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7560" y="2395728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Steps 5-6
Filter+ML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395728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Steps 7-8
Enrich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2395728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Step 9
Claude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395728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Steps 10
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2395728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Step 11
Orders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2971800"/>
            <a:ext cx="11612880" cy="320040"/>
          </a:xfrm>
          <a:prstGeom prst="rect">
            <a:avLst/>
          </a:prstGeom>
          <a:solidFill>
            <a:srgbClr val="1E293B"/>
          </a:solidFill>
          <a:ln w="19050">
            <a:solidFill>
              <a:srgbClr val="37415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Prompt caching (ephemeral) on Claude call  |  ML scorer optional (skips if xgb_scorer.pkl absent)  |  All bracket orders: entry limit + take-profit + stop-loss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Agent Roster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" y="685800"/>
            <a:ext cx="379476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3B82F6"/>
                </a:solidFill>
              </a:rPr>
              <a:t>market_context</a:t>
            </a:r>
          </a:p>
          <a:p>
            <a:r>
              <a:rPr sz="800" b="0">
                <a:solidFill>
                  <a:srgbClr val="94A3B8"/>
                </a:solidFill>
              </a:rPr>
              <a:t>[Python (det.)]</a:t>
            </a:r>
          </a:p>
          <a:p>
            <a:r>
              <a:rPr sz="800" b="0">
                <a:solidFill>
                  <a:srgbClr val="CBD5E1"/>
                </a:solidFill>
              </a:rPr>
              <a:t>VIX, ES=F, NQ=F via yfinance</a:t>
            </a:r>
          </a:p>
          <a:p>
            <a:r>
              <a:rPr sz="800" b="0">
                <a:solidFill>
                  <a:srgbClr val="CBD5E1"/>
                </a:solidFill>
              </a:rPr>
              <a:t>Fear&amp;Greed via alternative.me</a:t>
            </a:r>
          </a:p>
          <a:p>
            <a:r>
              <a:rPr sz="800" b="0">
                <a:solidFill>
                  <a:srgbClr val="CBD5E1"/>
                </a:solidFill>
              </a:rPr>
              <a:t>Sector ETFs via Alpaca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9080" y="685800"/>
            <a:ext cx="379476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3B82F6"/>
                </a:solidFill>
              </a:rPr>
              <a:t>Scanner</a:t>
            </a:r>
          </a:p>
          <a:p>
            <a:r>
              <a:rPr sz="800" b="0">
                <a:solidFill>
                  <a:srgbClr val="94A3B8"/>
                </a:solidFill>
              </a:rPr>
              <a:t>[Python (det.)]</a:t>
            </a:r>
          </a:p>
          <a:p>
            <a:r>
              <a:rPr sz="800" b="0">
                <a:solidFill>
                  <a:srgbClr val="CBD5E1"/>
                </a:solidFill>
              </a:rPr>
              <a:t>yfinance: 430+ tickers</a:t>
            </a:r>
          </a:p>
          <a:p>
            <a:r>
              <a:rPr sz="800" b="0">
                <a:solidFill>
                  <a:srgbClr val="CBD5E1"/>
                </a:solidFill>
              </a:rPr>
              <a:t>RSI, MACD, SMA50/200</a:t>
            </a:r>
          </a:p>
          <a:p>
            <a:r>
              <a:rPr sz="800" b="0">
                <a:solidFill>
                  <a:srgbClr val="CBD5E1"/>
                </a:solidFill>
              </a:rPr>
              <a:t>ATR, volume, gap%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0" y="685800"/>
            <a:ext cx="379476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3B82F6"/>
                </a:solidFill>
              </a:rPr>
              <a:t>news_intel</a:t>
            </a:r>
          </a:p>
          <a:p>
            <a:r>
              <a:rPr sz="800" b="0">
                <a:solidFill>
                  <a:srgbClr val="94A3B8"/>
                </a:solidFill>
              </a:rPr>
              <a:t>[Python (det.)]</a:t>
            </a:r>
          </a:p>
          <a:p>
            <a:r>
              <a:rPr sz="800" b="0">
                <a:solidFill>
                  <a:srgbClr val="CBD5E1"/>
                </a:solidFill>
              </a:rPr>
              <a:t>yfinance .calendar</a:t>
            </a:r>
          </a:p>
          <a:p>
            <a:r>
              <a:rPr sz="800" b="0">
                <a:solidFill>
                  <a:srgbClr val="CBD5E1"/>
                </a:solidFill>
              </a:rPr>
              <a:t>20 workers, 30s timeout</a:t>
            </a:r>
          </a:p>
          <a:p>
            <a:r>
              <a:rPr sz="800" b="0">
                <a:solidFill>
                  <a:srgbClr val="CBD5E1"/>
                </a:solidFill>
              </a:rPr>
              <a:t>earnings blackout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517904"/>
            <a:ext cx="379476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59E0B"/>
                </a:solidFill>
              </a:rPr>
              <a:t>ml_scorer</a:t>
            </a:r>
          </a:p>
          <a:p>
            <a:r>
              <a:rPr sz="800" b="0">
                <a:solidFill>
                  <a:srgbClr val="94A3B8"/>
                </a:solidFill>
              </a:rPr>
              <a:t>[XGBoost pkl]</a:t>
            </a:r>
          </a:p>
          <a:p>
            <a:r>
              <a:rPr sz="800" b="0">
                <a:solidFill>
                  <a:srgbClr val="CBD5E1"/>
                </a:solidFill>
              </a:rPr>
              <a:t>xgb_scorer.pkl</a:t>
            </a:r>
          </a:p>
          <a:p>
            <a:r>
              <a:rPr sz="800" b="0">
                <a:solidFill>
                  <a:srgbClr val="CBD5E1"/>
                </a:solidFill>
              </a:rPr>
              <a:t>P(hit +2%) classifier</a:t>
            </a:r>
          </a:p>
          <a:p>
            <a:r>
              <a:rPr sz="800" b="0">
                <a:solidFill>
                  <a:srgbClr val="CBD5E1"/>
                </a:solidFill>
              </a:rPr>
              <a:t>retrained monthly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517904"/>
            <a:ext cx="379476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59E0B"/>
                </a:solidFill>
              </a:rPr>
              <a:t>strategy</a:t>
            </a:r>
          </a:p>
          <a:p>
            <a:r>
              <a:rPr sz="800" b="0">
                <a:solidFill>
                  <a:srgbClr val="94A3B8"/>
                </a:solidFill>
              </a:rPr>
              <a:t>[claude-sonnet-4-6]</a:t>
            </a:r>
          </a:p>
          <a:p>
            <a:r>
              <a:rPr sz="800" b="0">
                <a:solidFill>
                  <a:srgbClr val="CBD5E1"/>
                </a:solidFill>
              </a:rPr>
              <a:t>candidates + market_summary</a:t>
            </a:r>
          </a:p>
          <a:p>
            <a:r>
              <a:rPr sz="800" b="0">
                <a:solidFill>
                  <a:srgbClr val="CBD5E1"/>
                </a:solidFill>
              </a:rPr>
              <a:t>sector_guidance + news_context</a:t>
            </a:r>
          </a:p>
          <a:p>
            <a:r>
              <a:rPr sz="800" b="0">
                <a:solidFill>
                  <a:srgbClr val="CBD5E1"/>
                </a:solidFill>
              </a:rPr>
              <a:t>prompt caching (ephemeral)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80" y="1517904"/>
            <a:ext cx="379476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F4444"/>
                </a:solidFill>
              </a:rPr>
              <a:t>risk</a:t>
            </a:r>
          </a:p>
          <a:p>
            <a:r>
              <a:rPr sz="800" b="0">
                <a:solidFill>
                  <a:srgbClr val="94A3B8"/>
                </a:solidFill>
              </a:rPr>
              <a:t>[Python (det.)]</a:t>
            </a:r>
          </a:p>
          <a:p>
            <a:r>
              <a:rPr sz="800" b="0">
                <a:solidFill>
                  <a:srgbClr val="CBD5E1"/>
                </a:solidFill>
              </a:rPr>
              <a:t>open positions DB</a:t>
            </a:r>
          </a:p>
          <a:p>
            <a:r>
              <a:rPr sz="800" b="0">
                <a:solidFill>
                  <a:srgbClr val="CBD5E1"/>
                </a:solidFill>
              </a:rPr>
              <a:t>daily P&amp;L check</a:t>
            </a:r>
          </a:p>
          <a:p>
            <a:r>
              <a:rPr sz="800" b="0">
                <a:solidFill>
                  <a:srgbClr val="CBD5E1"/>
                </a:solidFill>
              </a:rPr>
              <a:t>max positions check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350008"/>
            <a:ext cx="379476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F4444"/>
                </a:solidFill>
              </a:rPr>
              <a:t>sector_guard</a:t>
            </a:r>
          </a:p>
          <a:p>
            <a:r>
              <a:rPr sz="800" b="0">
                <a:solidFill>
                  <a:srgbClr val="94A3B8"/>
                </a:solidFill>
              </a:rPr>
              <a:t>[Python (det.)]</a:t>
            </a:r>
          </a:p>
          <a:p>
            <a:r>
              <a:rPr sz="800" b="0">
                <a:solidFill>
                  <a:srgbClr val="CBD5E1"/>
                </a:solidFill>
              </a:rPr>
              <a:t>SECTOR_MAP lookup</a:t>
            </a:r>
          </a:p>
          <a:p>
            <a:r>
              <a:rPr sz="800" b="0">
                <a:solidFill>
                  <a:srgbClr val="CBD5E1"/>
                </a:solidFill>
              </a:rPr>
              <a:t>max 2 per sector</a:t>
            </a:r>
          </a:p>
          <a:p>
            <a:r>
              <a:rPr sz="800" b="0">
                <a:solidFill>
                  <a:srgbClr val="CBD5E1"/>
                </a:solidFill>
              </a:rPr>
              <a:t>drops lowest confidence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2350008"/>
            <a:ext cx="379476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F4444"/>
                </a:solidFill>
              </a:rPr>
              <a:t>atr_sizer</a:t>
            </a:r>
          </a:p>
          <a:p>
            <a:r>
              <a:rPr sz="800" b="0">
                <a:solidFill>
                  <a:srgbClr val="94A3B8"/>
                </a:solidFill>
              </a:rPr>
              <a:t>[Python (det.)]</a:t>
            </a:r>
          </a:p>
          <a:p>
            <a:r>
              <a:rPr sz="800" b="0">
                <a:solidFill>
                  <a:srgbClr val="CBD5E1"/>
                </a:solidFill>
              </a:rPr>
              <a:t>ATR x 0.8 stop</a:t>
            </a:r>
          </a:p>
          <a:p>
            <a:r>
              <a:rPr sz="800" b="0">
                <a:solidFill>
                  <a:srgbClr val="CBD5E1"/>
                </a:solidFill>
              </a:rPr>
              <a:t>$150 constant dollar risk</a:t>
            </a:r>
          </a:p>
          <a:p>
            <a:r>
              <a:rPr sz="800" b="0">
                <a:solidFill>
                  <a:srgbClr val="CBD5E1"/>
                </a:solidFill>
              </a:rPr>
              <a:t>R:R &gt;= 2.0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80" y="2350008"/>
            <a:ext cx="379476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F4444"/>
                </a:solidFill>
              </a:rPr>
              <a:t>guardrails</a:t>
            </a:r>
          </a:p>
          <a:p>
            <a:r>
              <a:rPr sz="800" b="0">
                <a:solidFill>
                  <a:srgbClr val="94A3B8"/>
                </a:solidFill>
              </a:rPr>
              <a:t>[Python (det.)]</a:t>
            </a:r>
          </a:p>
          <a:p>
            <a:r>
              <a:rPr sz="800" b="0">
                <a:solidFill>
                  <a:srgbClr val="CBD5E1"/>
                </a:solidFill>
              </a:rPr>
              <a:t>Alpaca live price sanity</a:t>
            </a:r>
          </a:p>
          <a:p>
            <a:r>
              <a:rPr sz="800" b="0">
                <a:solidFill>
                  <a:srgbClr val="CBD5E1"/>
                </a:solidFill>
              </a:rPr>
              <a:t>buying power check</a:t>
            </a:r>
          </a:p>
          <a:p>
            <a:r>
              <a:rPr sz="800" b="0">
                <a:solidFill>
                  <a:srgbClr val="CBD5E1"/>
                </a:solidFill>
              </a:rPr>
              <a:t>BUY-only enforcement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Intraday Session (Every 15 min, 10 AM – 3:59 PM ET)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3200400" cy="731520"/>
          </a:xfrm>
          <a:prstGeom prst="rect">
            <a:avLst/>
          </a:prstGeom>
          <a:solidFill>
            <a:srgbClr val="1E3A8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3B82F6"/>
                </a:solidFill>
              </a:rPr>
              <a:t>agents/intraday.run()</a:t>
            </a:r>
          </a:p>
          <a:p>
            <a:pPr algn="ctr"/>
            <a:r>
              <a:rPr sz="950" b="0">
                <a:solidFill>
                  <a:srgbClr val="CBD5E1"/>
                </a:solidFill>
              </a:rPr>
              <a:t>Fetch OPEN positions from DB</a:t>
            </a:r>
          </a:p>
          <a:p>
            <a:pPr algn="ctr"/>
            <a:r>
              <a:rPr sz="950" b="0">
                <a:solidFill>
                  <a:srgbClr val="CBD5E1"/>
                </a:solidFill>
              </a:rPr>
              <a:t>Check each via Alpaca API</a:t>
            </a:r>
          </a:p>
          <a:p>
            <a:pPr algn="ctr"/>
            <a:r>
              <a:rPr sz="950" b="0">
                <a:solidFill>
                  <a:srgbClr val="CBD5E1"/>
                </a:solidFill>
              </a:rPr>
              <a:t>Trail fill? -&gt; CLOSED  Bracket fill? -&gt; CLOSED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749039" y="777240"/>
            <a:ext cx="3200400" cy="731520"/>
          </a:xfrm>
          <a:prstGeom prst="rect">
            <a:avLst/>
          </a:prstGeom>
          <a:solidFill>
            <a:srgbClr val="14532D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2C55E"/>
                </a:solidFill>
              </a:rPr>
              <a:t>Per Open Position</a:t>
            </a:r>
          </a:p>
          <a:p>
            <a:pPr algn="ctr"/>
            <a:r>
              <a:rPr sz="950" b="0">
                <a:solidFill>
                  <a:srgbClr val="CBD5E1"/>
                </a:solidFill>
              </a:rPr>
              <a:t>Get current price via Alpaca</a:t>
            </a:r>
          </a:p>
          <a:p>
            <a:pPr algn="ctr"/>
            <a:r>
              <a:rPr sz="950" b="0">
                <a:solidFill>
                  <a:srgbClr val="CBD5E1"/>
                </a:solidFill>
              </a:rPr>
              <a:t>Update unrealized_pnl (uses fill_price)</a:t>
            </a:r>
          </a:p>
          <a:p>
            <a:pPr algn="ctr"/>
            <a:r>
              <a:rPr sz="950" b="0">
                <a:solidFill>
                  <a:srgbClr val="CBD5E1"/>
                </a:solidFill>
              </a:rPr>
              <a:t>Update high/low watermark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474720" y="1143000"/>
            <a:ext cx="27431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4320" y="160020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Exit Conditions: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828800"/>
            <a:ext cx="2743200" cy="731520"/>
          </a:xfrm>
          <a:prstGeom prst="rect">
            <a:avLst/>
          </a:prstGeom>
          <a:solidFill>
            <a:srgbClr val="14532D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2C55E"/>
                </a:solidFill>
              </a:rPr>
              <a:t>TARGET</a:t>
            </a:r>
          </a:p>
          <a:p>
            <a:r>
              <a:rPr sz="850">
                <a:solidFill>
                  <a:srgbClr val="CBD5E1"/>
                </a:solidFill>
              </a:rPr>
              <a:t>price &gt;= target_price
market sell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697480"/>
            <a:ext cx="2743200" cy="731520"/>
          </a:xfrm>
          <a:prstGeom prst="rect">
            <a:avLst/>
          </a:prstGeom>
          <a:solidFill>
            <a:srgbClr val="7F1D1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F4444"/>
                </a:solidFill>
              </a:rPr>
              <a:t>STOP</a:t>
            </a:r>
          </a:p>
          <a:p>
            <a:r>
              <a:rPr sz="850">
                <a:solidFill>
                  <a:srgbClr val="CBD5E1"/>
                </a:solidFill>
              </a:rPr>
              <a:t>price &lt;= stop_loss
market sell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566160"/>
            <a:ext cx="2743200" cy="731520"/>
          </a:xfrm>
          <a:prstGeom prst="rect">
            <a:avLst/>
          </a:prstGeom>
          <a:solidFill>
            <a:srgbClr val="78350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59E0B"/>
                </a:solidFill>
              </a:rPr>
              <a:t>NATIVE_TRAIL</a:t>
            </a:r>
          </a:p>
          <a:p>
            <a:r>
              <a:rPr sz="850">
                <a:solidFill>
                  <a:srgbClr val="CBD5E1"/>
                </a:solidFill>
              </a:rPr>
              <a:t>Alpaca server-side
trailing stop fires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434840"/>
            <a:ext cx="2743200" cy="731520"/>
          </a:xfrm>
          <a:prstGeom prst="rect">
            <a:avLst/>
          </a:prstGeom>
          <a:solidFill>
            <a:srgbClr val="4A044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A855F7"/>
                </a:solidFill>
              </a:rPr>
              <a:t>BONUS_TARGET</a:t>
            </a:r>
          </a:p>
          <a:p>
            <a:r>
              <a:rPr sz="850">
                <a:solidFill>
                  <a:srgbClr val="CBD5E1"/>
                </a:solidFill>
              </a:rPr>
              <a:t>daily P&amp;L &gt;= bonus
close 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9039" y="1828800"/>
            <a:ext cx="8046720" cy="1005840"/>
          </a:xfrm>
          <a:prstGeom prst="rect">
            <a:avLst/>
          </a:prstGeom>
          <a:solidFill>
            <a:srgbClr val="78350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59E0B"/>
                </a:solidFill>
              </a:rPr>
              <a:t>Entry Scan (entry_scan.yml)</a:t>
            </a:r>
          </a:p>
          <a:p>
            <a:pPr algn="ctr"/>
            <a:r>
              <a:rPr sz="950" b="0">
                <a:solidFill>
                  <a:srgbClr val="CBD5E1"/>
                </a:solidFill>
              </a:rPr>
              <a:t>Fires at 10:30 AM and 11:30 AM ET via separate GitHub Actions cron</a:t>
            </a:r>
          </a:p>
          <a:p>
            <a:pPr algn="ctr"/>
            <a:r>
              <a:rPr sz="950" b="0">
                <a:solidFill>
                  <a:srgbClr val="CBD5E1"/>
                </a:solidFill>
              </a:rPr>
              <a:t>Runs same premarket pipeline: scan -&gt; news -&gt; ML -&gt; Claude -&gt; risk -&gt; orders</a:t>
            </a:r>
          </a:p>
          <a:p>
            <a:pPr algn="ctr"/>
            <a:r>
              <a:rPr sz="950" b="0">
                <a:solidFill>
                  <a:srgbClr val="CBD5E1"/>
                </a:solidFill>
              </a:rPr>
              <a:t>Only enters if open position count &lt; MAX_POSITIONS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39" y="3017520"/>
            <a:ext cx="8046720" cy="685800"/>
          </a:xfrm>
          <a:prstGeom prst="rect">
            <a:avLst/>
          </a:prstGeom>
          <a:solidFill>
            <a:srgbClr val="7F1D1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F4444"/>
                </a:solidFill>
              </a:rPr>
              <a:t>positions table</a:t>
            </a:r>
          </a:p>
          <a:p>
            <a:pPr algn="ctr"/>
            <a:r>
              <a:rPr sz="950" b="0">
                <a:solidFill>
                  <a:srgbClr val="CBD5E1"/>
                </a:solidFill>
              </a:rPr>
              <a:t>status=CLOSED  |  realized_pnl  |  close_reason  |  mae  |  mfe  |  closed_at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EOD Session + Data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2103120" cy="1005840"/>
          </a:xfrm>
          <a:prstGeom prst="rect">
            <a:avLst/>
          </a:prstGeom>
          <a:solidFill>
            <a:srgbClr val="7F1D1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F4444"/>
                </a:solidFill>
              </a:rPr>
              <a:t>Force Close</a:t>
            </a:r>
          </a:p>
          <a:p>
            <a:pPr algn="ctr"/>
            <a:r>
              <a:rPr sz="850" b="0">
                <a:solidFill>
                  <a:srgbClr val="CBD5E1"/>
                </a:solidFill>
              </a:rPr>
              <a:t>cancel_all</a:t>
            </a:r>
          </a:p>
          <a:p>
            <a:pPr algn="ctr"/>
            <a:r>
              <a:rPr sz="850" b="0">
                <a:solidFill>
                  <a:srgbClr val="CBD5E1"/>
                </a:solidFill>
              </a:rPr>
              <a:t>close all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60320" y="1280160.0"/>
            <a:ext cx="164592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724912" y="777240"/>
            <a:ext cx="2103120" cy="1005840"/>
          </a:xfrm>
          <a:prstGeom prst="rect">
            <a:avLst/>
          </a:prstGeom>
          <a:solidFill>
            <a:srgbClr val="1E3A8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3B82F6"/>
                </a:solidFill>
              </a:rPr>
              <a:t>Reconcile</a:t>
            </a:r>
          </a:p>
          <a:p>
            <a:pPr algn="ctr"/>
            <a:r>
              <a:rPr sz="850" b="0">
                <a:solidFill>
                  <a:srgbClr val="CBD5E1"/>
                </a:solidFill>
              </a:rPr>
              <a:t>backfill fills</a:t>
            </a:r>
          </a:p>
          <a:p>
            <a:pPr algn="ctr"/>
            <a:r>
              <a:rPr sz="850" b="0">
                <a:solidFill>
                  <a:srgbClr val="CBD5E1"/>
                </a:solidFill>
              </a:rPr>
              <a:t>mark closed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828032" y="1280160.0"/>
            <a:ext cx="164592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992624" y="777240"/>
            <a:ext cx="2103120" cy="1005840"/>
          </a:xfrm>
          <a:prstGeom prst="rect">
            <a:avLst/>
          </a:prstGeom>
          <a:solidFill>
            <a:srgbClr val="14532D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C55E"/>
                </a:solidFill>
              </a:rPr>
              <a:t>Compute P&amp;L</a:t>
            </a:r>
          </a:p>
          <a:p>
            <a:pPr algn="ctr"/>
            <a:r>
              <a:rPr sz="850" b="0">
                <a:solidFill>
                  <a:srgbClr val="CBD5E1"/>
                </a:solidFill>
              </a:rPr>
              <a:t>win_rate</a:t>
            </a:r>
          </a:p>
          <a:p>
            <a:pPr algn="ctr"/>
            <a:r>
              <a:rPr sz="850" b="0">
                <a:solidFill>
                  <a:srgbClr val="CBD5E1"/>
                </a:solidFill>
              </a:rPr>
              <a:t>hold_time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095744" y="1280160.0"/>
            <a:ext cx="164592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7260336" y="777240"/>
            <a:ext cx="2103120" cy="1005840"/>
          </a:xfrm>
          <a:prstGeom prst="rect">
            <a:avLst/>
          </a:prstGeom>
          <a:solidFill>
            <a:srgbClr val="14532D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C55E"/>
                </a:solidFill>
              </a:rPr>
              <a:t>Write</a:t>
            </a:r>
          </a:p>
          <a:p>
            <a:pPr algn="ctr"/>
            <a:r>
              <a:rPr sz="850" b="0">
                <a:solidFill>
                  <a:srgbClr val="CBD5E1"/>
                </a:solidFill>
              </a:rPr>
              <a:t>daily_performance</a:t>
            </a:r>
          </a:p>
          <a:p>
            <a:pPr algn="ctr"/>
            <a:r>
              <a:rPr sz="850" b="0">
                <a:solidFill>
                  <a:srgbClr val="CBD5E1"/>
                </a:solidFill>
              </a:rPr>
              <a:t>friction_gap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363456" y="1280160.0"/>
            <a:ext cx="164592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9528048" y="777240"/>
            <a:ext cx="2103120" cy="1005840"/>
          </a:xfrm>
          <a:prstGeom prst="rect">
            <a:avLst/>
          </a:prstGeom>
          <a:solidFill>
            <a:srgbClr val="78350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59E0B"/>
                </a:solidFill>
              </a:rPr>
              <a:t>Alert</a:t>
            </a:r>
          </a:p>
          <a:p>
            <a:pPr algn="ctr"/>
            <a:r>
              <a:rPr sz="850" b="0">
                <a:solidFill>
                  <a:srgbClr val="CBD5E1"/>
                </a:solidFill>
              </a:rPr>
              <a:t>Gmail EOD</a:t>
            </a:r>
          </a:p>
          <a:p>
            <a:pPr algn="ctr"/>
            <a:r>
              <a:rPr sz="850" b="0">
                <a:solidFill>
                  <a:srgbClr val="CBD5E1"/>
                </a:solidFill>
              </a:rPr>
              <a:t>ntfy.sh push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011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Data 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423160"/>
            <a:ext cx="11612880" cy="685800"/>
          </a:xfrm>
          <a:prstGeom prst="rect">
            <a:avLst/>
          </a:prstGeom>
          <a:solidFill>
            <a:srgbClr val="7F1D1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F4444"/>
                </a:solidFill>
              </a:rPr>
              <a:t>scan_results</a:t>
            </a:r>
          </a:p>
          <a:p>
            <a:r>
              <a:rPr sz="800">
                <a:solidFill>
                  <a:srgbClr val="CBD5E1"/>
                </a:solidFill>
              </a:rPr>
              <a:t>premarket|intraday|eod|halt_flag
candidates JSON, results JSON, placed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182112"/>
            <a:ext cx="11612880" cy="1051560"/>
          </a:xfrm>
          <a:prstGeom prst="rect">
            <a:avLst/>
          </a:prstGeom>
          <a:solidFill>
            <a:srgbClr val="7F1D1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F4444"/>
                </a:solidFill>
              </a:rPr>
              <a:t>positions</a:t>
            </a:r>
          </a:p>
          <a:p>
            <a:r>
              <a:rPr sz="800">
                <a:solidFill>
                  <a:srgbClr val="CBD5E1"/>
                </a:solidFill>
              </a:rPr>
              <a:t>OPEN|CLOSED|UNFILLED
entry_price, fill_price, target, stop
shares, unrealized_pnl, realized_pnl
close_reason, alpaca_order_id, trail_order_id
high/low watermark, mae, mfe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306824"/>
            <a:ext cx="11612880" cy="685800"/>
          </a:xfrm>
          <a:prstGeom prst="rect">
            <a:avLst/>
          </a:prstGeom>
          <a:solidFill>
            <a:srgbClr val="7F1D1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F4444"/>
                </a:solidFill>
              </a:rPr>
              <a:t>daily_performance</a:t>
            </a:r>
          </a:p>
          <a:p>
            <a:r>
              <a:rPr sz="800">
                <a:solidFill>
                  <a:srgbClr val="CBD5E1"/>
                </a:solidFill>
              </a:rPr>
              <a:t>total_pnl, total_trades, wins, losses
win_rate, alpaca_equity
calculated_equity, friction_gap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Key Configuration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" y="685800"/>
            <a:ext cx="5669280" cy="393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B82F6"/>
                </a:solidFill>
              </a:rPr>
              <a:t>TOTAL_CAPITAL  </a:t>
            </a:r>
            <a:r>
              <a:rPr sz="950" b="1">
                <a:solidFill>
                  <a:srgbClr val="F59E0B"/>
                </a:solidFill>
              </a:rPr>
              <a:t>$50,000  </a:t>
            </a:r>
            <a:r>
              <a:rPr sz="900">
                <a:solidFill>
                  <a:srgbClr val="94A3B8"/>
                </a:solidFill>
              </a:rPr>
              <a:t>Account size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0" y="685800"/>
            <a:ext cx="5669280" cy="393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B82F6"/>
                </a:solidFill>
              </a:rPr>
              <a:t>DAILY_PROFIT_TARGET  </a:t>
            </a:r>
            <a:r>
              <a:rPr sz="950" b="1">
                <a:solidFill>
                  <a:srgbClr val="F59E0B"/>
                </a:solidFill>
              </a:rPr>
              <a:t>$500  </a:t>
            </a:r>
            <a:r>
              <a:rPr sz="900">
                <a:solidFill>
                  <a:srgbClr val="94A3B8"/>
                </a:solidFill>
              </a:rPr>
              <a:t>Daily goal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15568"/>
            <a:ext cx="5669280" cy="393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B82F6"/>
                </a:solidFill>
              </a:rPr>
              <a:t>MAX_POSITIONS  </a:t>
            </a:r>
            <a:r>
              <a:rPr sz="950" b="1">
                <a:solidFill>
                  <a:srgbClr val="F59E0B"/>
                </a:solidFill>
              </a:rPr>
              <a:t>10  </a:t>
            </a:r>
            <a:r>
              <a:rPr sz="900">
                <a:solidFill>
                  <a:srgbClr val="94A3B8"/>
                </a:solidFill>
              </a:rPr>
              <a:t>Concurrent open 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115568"/>
            <a:ext cx="5669280" cy="393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B82F6"/>
                </a:solidFill>
              </a:rPr>
              <a:t>POSITION_SIZE  </a:t>
            </a:r>
            <a:r>
              <a:rPr sz="950" b="1">
                <a:solidFill>
                  <a:srgbClr val="F59E0B"/>
                </a:solidFill>
              </a:rPr>
              <a:t>$3.5K/$3K/$2.5K  </a:t>
            </a:r>
            <a:r>
              <a:rPr sz="900">
                <a:solidFill>
                  <a:srgbClr val="94A3B8"/>
                </a:solidFill>
              </a:rPr>
              <a:t>HIGH/MED/LOW confidence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545336"/>
            <a:ext cx="5669280" cy="393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B82F6"/>
                </a:solidFill>
              </a:rPr>
              <a:t>TARGET_PCT  </a:t>
            </a:r>
            <a:r>
              <a:rPr sz="950" b="1">
                <a:solidFill>
                  <a:srgbClr val="F59E0B"/>
                </a:solidFill>
              </a:rPr>
              <a:t>8%  </a:t>
            </a:r>
            <a:r>
              <a:rPr sz="900">
                <a:solidFill>
                  <a:srgbClr val="94A3B8"/>
                </a:solidFill>
              </a:rPr>
              <a:t>Profit ceiling per trade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545336"/>
            <a:ext cx="5669280" cy="393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B82F6"/>
                </a:solidFill>
              </a:rPr>
              <a:t>MIN_REWARD_RISK  </a:t>
            </a:r>
            <a:r>
              <a:rPr sz="950" b="1">
                <a:solidFill>
                  <a:srgbClr val="F59E0B"/>
                </a:solidFill>
              </a:rPr>
              <a:t>2.0  </a:t>
            </a:r>
            <a:r>
              <a:rPr sz="900">
                <a:solidFill>
                  <a:srgbClr val="94A3B8"/>
                </a:solidFill>
              </a:rPr>
              <a:t>Min R:R after ATR sizing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975104"/>
            <a:ext cx="5669280" cy="393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B82F6"/>
                </a:solidFill>
              </a:rPr>
              <a:t>ATR_STOP_MULTIPLIER  </a:t>
            </a:r>
            <a:r>
              <a:rPr sz="950" b="1">
                <a:solidFill>
                  <a:srgbClr val="F59E0B"/>
                </a:solidFill>
              </a:rPr>
              <a:t>0.8  </a:t>
            </a:r>
            <a:r>
              <a:rPr sz="900">
                <a:solidFill>
                  <a:srgbClr val="94A3B8"/>
                </a:solidFill>
              </a:rPr>
              <a:t>Stop = ATR x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975104"/>
            <a:ext cx="5669280" cy="393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B82F6"/>
                </a:solidFill>
              </a:rPr>
              <a:t>ATR_STOP_FLOOR  </a:t>
            </a:r>
            <a:r>
              <a:rPr sz="950" b="1">
                <a:solidFill>
                  <a:srgbClr val="F59E0B"/>
                </a:solidFill>
              </a:rPr>
              <a:t>0.5%  </a:t>
            </a:r>
            <a:r>
              <a:rPr sz="900">
                <a:solidFill>
                  <a:srgbClr val="94A3B8"/>
                </a:solidFill>
              </a:rPr>
              <a:t>Minimum stop width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404872"/>
            <a:ext cx="5669280" cy="393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B82F6"/>
                </a:solidFill>
              </a:rPr>
              <a:t>MAX_LOSS_DOLLARS  </a:t>
            </a:r>
            <a:r>
              <a:rPr sz="950" b="1">
                <a:solidFill>
                  <a:srgbClr val="F59E0B"/>
                </a:solidFill>
              </a:rPr>
              <a:t>$150  </a:t>
            </a:r>
            <a:r>
              <a:rPr sz="900">
                <a:solidFill>
                  <a:srgbClr val="94A3B8"/>
                </a:solidFill>
              </a:rPr>
              <a:t>Constant dollar risk / trade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404872"/>
            <a:ext cx="5669280" cy="393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B82F6"/>
                </a:solidFill>
              </a:rPr>
              <a:t>DAILY_LOSS_LIMIT  </a:t>
            </a:r>
            <a:r>
              <a:rPr sz="950" b="1">
                <a:solidFill>
                  <a:srgbClr val="F59E0B"/>
                </a:solidFill>
              </a:rPr>
              <a:t>-$500  </a:t>
            </a:r>
            <a:r>
              <a:rPr sz="900">
                <a:solidFill>
                  <a:srgbClr val="94A3B8"/>
                </a:solidFill>
              </a:rPr>
              <a:t>Gate: no new trades if hit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834640"/>
            <a:ext cx="5669280" cy="393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B82F6"/>
                </a:solidFill>
              </a:rPr>
              <a:t>TRAIL_PCT  </a:t>
            </a:r>
            <a:r>
              <a:rPr sz="950" b="1">
                <a:solidFill>
                  <a:srgbClr val="F59E0B"/>
                </a:solidFill>
              </a:rPr>
              <a:t>1%  </a:t>
            </a:r>
            <a:r>
              <a:rPr sz="900">
                <a:solidFill>
                  <a:srgbClr val="94A3B8"/>
                </a:solidFill>
              </a:rPr>
              <a:t>Native Alpaca trailing stop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834640"/>
            <a:ext cx="5669280" cy="393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B82F6"/>
                </a:solidFill>
              </a:rPr>
              <a:t>FG_EXTREME_FEAR  </a:t>
            </a:r>
            <a:r>
              <a:rPr sz="950" b="1">
                <a:solidFill>
                  <a:srgbClr val="F59E0B"/>
                </a:solidFill>
              </a:rPr>
              <a:t>15  </a:t>
            </a:r>
            <a:r>
              <a:rPr sz="900">
                <a:solidFill>
                  <a:srgbClr val="94A3B8"/>
                </a:solidFill>
              </a:rPr>
              <a:t>Below this: max 5 positions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3264408"/>
            <a:ext cx="5669280" cy="393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B82F6"/>
                </a:solidFill>
              </a:rPr>
              <a:t>STRATEGY_MIN_SCORE  </a:t>
            </a:r>
            <a:r>
              <a:rPr sz="950" b="1">
                <a:solidFill>
                  <a:srgbClr val="F59E0B"/>
                </a:solidFill>
              </a:rPr>
              <a:t>5  </a:t>
            </a:r>
            <a:r>
              <a:rPr sz="900">
                <a:solidFill>
                  <a:srgbClr val="94A3B8"/>
                </a:solidFill>
              </a:rPr>
              <a:t>Pre-filter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External Integrations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" y="685800"/>
            <a:ext cx="3794760" cy="1143000"/>
          </a:xfrm>
          <a:prstGeom prst="rect">
            <a:avLst/>
          </a:prstGeom>
          <a:solidFill>
            <a:srgbClr val="1E3A8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3B82F6"/>
                </a:solidFill>
              </a:rPr>
              <a:t>yfinance</a:t>
            </a:r>
          </a:p>
          <a:p>
            <a:r>
              <a:rPr sz="800" b="0">
                <a:solidFill>
                  <a:srgbClr val="94A3B8"/>
                </a:solidFill>
              </a:rPr>
              <a:t>[Data Source]</a:t>
            </a:r>
          </a:p>
          <a:p>
            <a:r>
              <a:rPr sz="800" b="0">
                <a:solidFill>
                  <a:srgbClr val="CBD5E1"/>
                </a:solidFill>
              </a:rPr>
              <a:t>430+ tickers OHLCV history</a:t>
            </a:r>
          </a:p>
          <a:p>
            <a:r>
              <a:rPr sz="800" b="0">
                <a:solidFill>
                  <a:srgbClr val="CBD5E1"/>
                </a:solidFill>
              </a:rPr>
              <a:t>VIX, ES=F, NQ=F futures</a:t>
            </a:r>
          </a:p>
          <a:p>
            <a:r>
              <a:rPr sz="800" b="0">
                <a:solidFill>
                  <a:srgbClr val="CBD5E1"/>
                </a:solidFill>
              </a:rPr>
              <a:t>FTSE, DAX, Nikkei</a:t>
            </a:r>
          </a:p>
          <a:p>
            <a:r>
              <a:rPr sz="800" b="0">
                <a:solidFill>
                  <a:srgbClr val="CBD5E1"/>
                </a:solidFill>
              </a:rPr>
              <a:t>Earnings calendar + news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9080" y="685800"/>
            <a:ext cx="3794760" cy="1143000"/>
          </a:xfrm>
          <a:prstGeom prst="rect">
            <a:avLst/>
          </a:prstGeom>
          <a:solidFill>
            <a:srgbClr val="1E3A8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3B82F6"/>
                </a:solidFill>
              </a:rPr>
              <a:t>alternative.me</a:t>
            </a:r>
          </a:p>
          <a:p>
            <a:r>
              <a:rPr sz="800" b="0">
                <a:solidFill>
                  <a:srgbClr val="94A3B8"/>
                </a:solidFill>
              </a:rPr>
              <a:t>[Data Source]</a:t>
            </a:r>
          </a:p>
          <a:p>
            <a:r>
              <a:rPr sz="800" b="0">
                <a:solidFill>
                  <a:srgbClr val="CBD5E1"/>
                </a:solidFill>
              </a:rPr>
              <a:t>Fear &amp; Greed index (0-100)</a:t>
            </a:r>
          </a:p>
          <a:p>
            <a:r>
              <a:rPr sz="800" b="0">
                <a:solidFill>
                  <a:srgbClr val="CBD5E1"/>
                </a:solidFill>
              </a:rPr>
              <a:t>used by market_context</a:t>
            </a:r>
          </a:p>
          <a:p>
            <a:r>
              <a:rPr sz="800" b="0">
                <a:solidFill>
                  <a:srgbClr val="CBD5E1"/>
                </a:solidFill>
              </a:rPr>
              <a:t>for position sizing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0" y="685800"/>
            <a:ext cx="3794760" cy="1143000"/>
          </a:xfrm>
          <a:prstGeom prst="rect">
            <a:avLst/>
          </a:prstGeom>
          <a:solidFill>
            <a:srgbClr val="14532D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C55E"/>
                </a:solidFill>
              </a:rPr>
              <a:t>Alpaca Markets</a:t>
            </a:r>
          </a:p>
          <a:p>
            <a:r>
              <a:rPr sz="800" b="0">
                <a:solidFill>
                  <a:srgbClr val="94A3B8"/>
                </a:solidFill>
              </a:rPr>
              <a:t>[Broker + Data]</a:t>
            </a:r>
          </a:p>
          <a:p>
            <a:r>
              <a:rPr sz="800" b="0">
                <a:solidFill>
                  <a:srgbClr val="CBD5E1"/>
                </a:solidFill>
              </a:rPr>
              <a:t>Live quotes and snapshots</a:t>
            </a:r>
          </a:p>
          <a:p>
            <a:r>
              <a:rPr sz="800" b="0">
                <a:solidFill>
                  <a:srgbClr val="CBD5E1"/>
                </a:solidFill>
              </a:rPr>
              <a:t>Sector ETF bars</a:t>
            </a:r>
          </a:p>
          <a:p>
            <a:r>
              <a:rPr sz="800" b="0">
                <a:solidFill>
                  <a:srgbClr val="CBD5E1"/>
                </a:solidFill>
              </a:rPr>
              <a:t>Bracket orders (entry+TP+SL)</a:t>
            </a:r>
          </a:p>
          <a:p>
            <a:r>
              <a:rPr sz="800" b="0">
                <a:solidFill>
                  <a:srgbClr val="CBD5E1"/>
                </a:solidFill>
              </a:rPr>
              <a:t>Trailing stops</a:t>
            </a:r>
          </a:p>
          <a:p>
            <a:r>
              <a:rPr sz="800" b="0">
                <a:solidFill>
                  <a:srgbClr val="CBD5E1"/>
                </a:solidFill>
              </a:rPr>
              <a:t>Account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920240"/>
            <a:ext cx="3794760" cy="1143000"/>
          </a:xfrm>
          <a:prstGeom prst="rect">
            <a:avLst/>
          </a:prstGeom>
          <a:solidFill>
            <a:srgbClr val="78350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59E0B"/>
                </a:solidFill>
              </a:rPr>
              <a:t>Anthropic API</a:t>
            </a:r>
          </a:p>
          <a:p>
            <a:r>
              <a:rPr sz="800" b="0">
                <a:solidFill>
                  <a:srgbClr val="94A3B8"/>
                </a:solidFill>
              </a:rPr>
              <a:t>[AI]</a:t>
            </a:r>
          </a:p>
          <a:p>
            <a:r>
              <a:rPr sz="800" b="0">
                <a:solidFill>
                  <a:srgbClr val="CBD5E1"/>
                </a:solidFill>
              </a:rPr>
              <a:t>claude-sonnet-4-6</a:t>
            </a:r>
          </a:p>
          <a:p>
            <a:r>
              <a:rPr sz="800" b="0">
                <a:solidFill>
                  <a:srgbClr val="CBD5E1"/>
                </a:solidFill>
              </a:rPr>
              <a:t>Prompt caching (ephemeral)</a:t>
            </a:r>
          </a:p>
          <a:p>
            <a:r>
              <a:rPr sz="800" b="0">
                <a:solidFill>
                  <a:srgbClr val="CBD5E1"/>
                </a:solidFill>
              </a:rPr>
              <a:t>Trade selection once/day</a:t>
            </a:r>
          </a:p>
          <a:p>
            <a:r>
              <a:rPr sz="800" b="0">
                <a:solidFill>
                  <a:srgbClr val="CBD5E1"/>
                </a:solidFill>
              </a:rPr>
              <a:t>~$0.01-0.05 per session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920240"/>
            <a:ext cx="3794760" cy="1143000"/>
          </a:xfrm>
          <a:prstGeom prst="rect">
            <a:avLst/>
          </a:prstGeom>
          <a:solidFill>
            <a:srgbClr val="78350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59E0B"/>
                </a:solidFill>
              </a:rPr>
              <a:t>XGBoost / sklearn</a:t>
            </a:r>
          </a:p>
          <a:p>
            <a:r>
              <a:rPr sz="800" b="0">
                <a:solidFill>
                  <a:srgbClr val="94A3B8"/>
                </a:solidFill>
              </a:rPr>
              <a:t>[ML]</a:t>
            </a:r>
          </a:p>
          <a:p>
            <a:r>
              <a:rPr sz="800" b="0">
                <a:solidFill>
                  <a:srgbClr val="CBD5E1"/>
                </a:solidFill>
              </a:rPr>
              <a:t>xgb_scorer.pkl</a:t>
            </a:r>
          </a:p>
          <a:p>
            <a:r>
              <a:rPr sz="800" b="0">
                <a:solidFill>
                  <a:srgbClr val="CBD5E1"/>
                </a:solidFill>
              </a:rPr>
              <a:t>P(hit +2%) classifier</a:t>
            </a:r>
          </a:p>
          <a:p>
            <a:r>
              <a:rPr sz="800" b="0">
                <a:solidFill>
                  <a:srgbClr val="CBD5E1"/>
                </a:solidFill>
              </a:rPr>
              <a:t>Retrained 1st of month</a:t>
            </a:r>
          </a:p>
          <a:p>
            <a:r>
              <a:rPr sz="800" b="0">
                <a:solidFill>
                  <a:srgbClr val="CBD5E1"/>
                </a:solidFill>
              </a:rPr>
              <a:t>sklearn 1.6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80" y="1920240"/>
            <a:ext cx="3794760" cy="1143000"/>
          </a:xfrm>
          <a:prstGeom prst="rect">
            <a:avLst/>
          </a:prstGeom>
          <a:solidFill>
            <a:srgbClr val="7F1D1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F4444"/>
                </a:solidFill>
              </a:rPr>
              <a:t>Supabase</a:t>
            </a:r>
          </a:p>
          <a:p>
            <a:r>
              <a:rPr sz="800" b="0">
                <a:solidFill>
                  <a:srgbClr val="94A3B8"/>
                </a:solidFill>
              </a:rPr>
              <a:t>[Storage]</a:t>
            </a:r>
          </a:p>
          <a:p>
            <a:r>
              <a:rPr sz="800" b="0">
                <a:solidFill>
                  <a:srgbClr val="CBD5E1"/>
                </a:solidFill>
              </a:rPr>
              <a:t>positions table</a:t>
            </a:r>
          </a:p>
          <a:p>
            <a:r>
              <a:rPr sz="800" b="0">
                <a:solidFill>
                  <a:srgbClr val="CBD5E1"/>
                </a:solidFill>
              </a:rPr>
              <a:t>scan_results table</a:t>
            </a:r>
          </a:p>
          <a:p>
            <a:r>
              <a:rPr sz="800" b="0">
                <a:solidFill>
                  <a:srgbClr val="CBD5E1"/>
                </a:solidFill>
              </a:rPr>
              <a:t>daily_performance 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3154680"/>
            <a:ext cx="3794760" cy="1143000"/>
          </a:xfrm>
          <a:prstGeom prst="rect">
            <a:avLst/>
          </a:prstGeom>
          <a:solidFill>
            <a:srgbClr val="1E293B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94A3B8"/>
                </a:solidFill>
              </a:rPr>
              <a:t>Gmail</a:t>
            </a:r>
          </a:p>
          <a:p>
            <a:r>
              <a:rPr sz="800" b="0">
                <a:solidFill>
                  <a:srgbClr val="94A3B8"/>
                </a:solidFill>
              </a:rPr>
              <a:t>[Alerting]</a:t>
            </a:r>
          </a:p>
          <a:p>
            <a:r>
              <a:rPr sz="800" b="0">
                <a:solidFill>
                  <a:srgbClr val="CBD5E1"/>
                </a:solidFill>
              </a:rPr>
              <a:t>EOD summary email</a:t>
            </a:r>
          </a:p>
          <a:p>
            <a:r>
              <a:rPr sz="800" b="0">
                <a:solidFill>
                  <a:srgbClr val="CBD5E1"/>
                </a:solidFill>
              </a:rPr>
              <a:t>Error alerts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3154680"/>
            <a:ext cx="3794760" cy="1143000"/>
          </a:xfrm>
          <a:prstGeom prst="rect">
            <a:avLst/>
          </a:prstGeom>
          <a:solidFill>
            <a:srgbClr val="1E293B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94A3B8"/>
                </a:solidFill>
              </a:rPr>
              <a:t>ntfy.sh</a:t>
            </a:r>
          </a:p>
          <a:p>
            <a:r>
              <a:rPr sz="800" b="0">
                <a:solidFill>
                  <a:srgbClr val="94A3B8"/>
                </a:solidFill>
              </a:rPr>
              <a:t>[Alerting]</a:t>
            </a:r>
          </a:p>
          <a:p>
            <a:r>
              <a:rPr sz="800" b="0">
                <a:solidFill>
                  <a:srgbClr val="CBD5E1"/>
                </a:solidFill>
              </a:rPr>
              <a:t>Push notifications</a:t>
            </a:r>
          </a:p>
          <a:p>
            <a:r>
              <a:rPr sz="800" b="0">
                <a:solidFill>
                  <a:srgbClr val="CBD5E1"/>
                </a:solidFill>
              </a:rPr>
              <a:t>Key trade events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80" y="3154680"/>
            <a:ext cx="3794760" cy="1143000"/>
          </a:xfrm>
          <a:prstGeom prst="rect">
            <a:avLst/>
          </a:prstGeom>
          <a:solidFill>
            <a:srgbClr val="14532D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C55E"/>
                </a:solidFill>
              </a:rPr>
              <a:t>GitHub Actions</a:t>
            </a:r>
          </a:p>
          <a:p>
            <a:r>
              <a:rPr sz="800" b="0">
                <a:solidFill>
                  <a:srgbClr val="94A3B8"/>
                </a:solidFill>
              </a:rPr>
              <a:t>[Scheduler]</a:t>
            </a:r>
          </a:p>
          <a:p>
            <a:r>
              <a:rPr sz="800" b="0">
                <a:solidFill>
                  <a:srgbClr val="CBD5E1"/>
                </a:solidFill>
              </a:rPr>
              <a:t>5 daily cron jobs</a:t>
            </a:r>
          </a:p>
          <a:p>
            <a:r>
              <a:rPr sz="800" b="0">
                <a:solidFill>
                  <a:srgbClr val="CBD5E1"/>
                </a:solidFill>
              </a:rPr>
              <a:t>health_check, premarket</a:t>
            </a:r>
          </a:p>
          <a:p>
            <a:r>
              <a:rPr sz="800" b="0">
                <a:solidFill>
                  <a:srgbClr val="CBD5E1"/>
                </a:solidFill>
              </a:rPr>
              <a:t>intraday, entry_scan, eod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Roadmap: Post-June 8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85800"/>
            <a:ext cx="11612880" cy="365760"/>
          </a:xfrm>
          <a:prstGeom prst="rect">
            <a:avLst/>
          </a:prstGeom>
          <a:solidFill>
            <a:srgbClr val="78350F"/>
          </a:solidFill>
          <a:ln w="19050">
            <a:solidFill>
              <a:srgbClr val="F59E0B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9E0B"/>
                </a:solidFill>
              </a:rPr>
              <a:t>June 8 pass criteria: Win rate &gt;= 70%  |  Avg daily P&amp;L &gt;= $500  |  NATIVE_TRAIL exits confirmed  |  No integrity flags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234440"/>
            <a:ext cx="11612880" cy="365760"/>
          </a:xfrm>
          <a:prstGeom prst="rect">
            <a:avLst/>
          </a:prstGeom>
          <a:solidFill>
            <a:srgbClr val="7F1D1D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F4444"/>
                </a:solidFill>
              </a:rPr>
              <a:t>P0 - Pre-Real-Money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1124712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>
                <a:solidFill>
                  <a:srgbClr val="CBD5E1"/>
                </a:solidFill>
              </a:rPr>
              <a:t>P&amp;L reconciliation: Pull Alpaca get_account().equity at EOD as source of truth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29968"/>
            <a:ext cx="1124712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>
                <a:solidFill>
                  <a:srgbClr val="CBD5E1"/>
                </a:solidFill>
              </a:rPr>
              <a:t>Add friction_breakdown dict (commission, spread, slippage) to daily_performance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14016"/>
            <a:ext cx="1124712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>
                <a:solidFill>
                  <a:srgbClr val="CBD5E1"/>
                </a:solidFill>
              </a:rPr>
              <a:t>Reduce monitoring interval from 15 min to 5 min (GHA cron + cron-job.org update)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935224"/>
            <a:ext cx="11612880" cy="365760"/>
          </a:xfrm>
          <a:prstGeom prst="rect">
            <a:avLst/>
          </a:prstGeom>
          <a:solidFill>
            <a:srgbClr val="78350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59E0B"/>
                </a:solidFill>
              </a:rPr>
              <a:t>P1 - Capability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46704"/>
            <a:ext cx="1124712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>
                <a:solidFill>
                  <a:srgbClr val="CBD5E1"/>
                </a:solidFill>
              </a:rPr>
              <a:t>WebSocket real-time monitor: replace polling cron with Alpaca trade update stream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730752"/>
            <a:ext cx="1124712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>
                <a:solidFill>
                  <a:srgbClr val="CBD5E1"/>
                </a:solidFill>
              </a:rPr>
              <a:t>Intraday trade entries: scan + strategy + risk every 30 min during intraday session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1124712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>
                <a:solidFill>
                  <a:srgbClr val="CBD5E1"/>
                </a:solidFill>
              </a:rPr>
              <a:t>Replace yfinance price data with Alpaca for intraday (keep yfinance for futures/history)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