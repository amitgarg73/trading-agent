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TRADING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06040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</a:rPr>
              <a:t>Strategy A — Architecture &amp;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9418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Single-strategy pipeline  ·  $50K paper account  ·  claude-sonnet-4-6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Version 5.23  |  June 2026  |  Paper Trading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38328" y="2642616"/>
            <a:ext cx="2103120" cy="192024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3200" b="1">
                <a:solidFill>
                  <a:srgbClr val="22C55E"/>
                </a:solidFill>
              </a:rPr>
              <a:t>$50,000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Account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642616" y="2642616"/>
            <a:ext cx="2103120" cy="192024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3200" b="1">
                <a:solidFill>
                  <a:srgbClr val="3B82F6"/>
                </a:solidFill>
              </a:rPr>
              <a:t>430+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Ticker Universe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946904" y="2642616"/>
            <a:ext cx="2103120" cy="192024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3200" b="1">
                <a:solidFill>
                  <a:srgbClr val="F59E0B"/>
                </a:solidFill>
              </a:rPr>
              <a:t>1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Claude Call per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251192" y="2642616"/>
            <a:ext cx="2103120" cy="192024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3200" b="1">
                <a:solidFill>
                  <a:srgbClr val="22C55E"/>
                </a:solidFill>
              </a:rPr>
              <a:t>$500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Daily P&amp;L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80" y="2642616"/>
            <a:ext cx="2103120" cy="192024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3200" b="1">
                <a:solidFill>
                  <a:srgbClr val="3B82F6"/>
                </a:solidFill>
              </a:rPr>
              <a:t>10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Max Open 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Three Daily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560320"/>
            <a:ext cx="3636264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Premarket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10:00 AM ET
Scan 430+ tickers
Claude → bracket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7160" y="32461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6344" y="2560320"/>
            <a:ext cx="3636264" cy="18288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F59E0B"/>
                </a:solidFill>
              </a:rPr>
              <a:t>Intraday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Every 15 min until 3:59 PM
Sync positions, check exits
Entry re-scans at 10:30 + 11:30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6032" y="32461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5215" y="2560320"/>
            <a:ext cx="3636264" cy="182880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22C55E"/>
                </a:solidFill>
              </a:rPr>
              <a:t>End of Day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3:55 PM ET
Force-close all positions
Reconcile P&amp;L →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Health check runs at 8:45 AM ET  ·  ML model retrains on the 1st of each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Premarket Pipeline — Five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286000"/>
            <a:ext cx="2064715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3B82F6"/>
                </a:solidFill>
              </a:rPr>
              <a:t>Market Gate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GO / CAUTION
or SKIP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5611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4795" y="2286000"/>
            <a:ext cx="2064715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3B82F6"/>
                </a:solidFill>
              </a:rPr>
              <a:t>Scan + News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430+ tickers
earnings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2934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2118" y="2286000"/>
            <a:ext cx="2064715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3B82F6"/>
                </a:solidFill>
              </a:rPr>
              <a:t>Filter + ML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XGBoost rank
live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0257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419441" y="2286000"/>
            <a:ext cx="2064715" cy="18288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F59E0B"/>
                </a:solidFill>
              </a:rPr>
              <a:t>Claude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trade selection
sonnet-4-6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7580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76764" y="2286000"/>
            <a:ext cx="2064715" cy="182880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22C55E"/>
                </a:solidFill>
              </a:rPr>
              <a:t>Risk + Orders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size, guard
bracket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419088"/>
            <a:ext cx="1164031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94A3B8"/>
                </a:solidFill>
              </a:rPr>
              <a:t>One run per day at 10:00 AM. Entry scans repeat at 10:30 AM and 11:30 AM with the same pipeline.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40680"/>
            <a:ext cx="3474720" cy="347472"/>
          </a:xfrm>
          <a:prstGeom prst="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3B82F6"/>
                </a:solidFill>
              </a:rPr>
              <a:t>Deterministic (Python)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440680"/>
            <a:ext cx="3474720" cy="347472"/>
          </a:xfrm>
          <a:prstGeom prst="rect">
            <a:avLst/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F59E0B"/>
                </a:solidFill>
              </a:rPr>
              <a:t>AI (Claude)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5440680"/>
            <a:ext cx="3474720" cy="347472"/>
          </a:xfrm>
          <a:prstGeom prst="rect">
            <a:avLst/>
          </a:prstGeom>
          <a:solidFill>
            <a:srgbClr val="14532D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22C55E"/>
                </a:solidFill>
              </a:rPr>
              <a:t>Output (Alpaca)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1 — Market Context: The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685800"/>
            <a:ext cx="530352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l"/>
            <a:r>
              <a:rPr sz="1500" b="1">
                <a:solidFill>
                  <a:srgbClr val="3B82F6"/>
                </a:solidFill>
              </a:rPr>
              <a:t>market_context.run()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VIX  ( ^VIX via yfinance )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Futures:  ES=F, NQ=F, YM=F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International:  FTSE, DAX, Nikkei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Fear &amp; Greed index  ( alternative.me )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Sector ETF bars  ( Alpaca )</a:t>
            </a:r>
          </a:p>
          <a:p>
            <a:pPr algn="l"/>
            <a:r>
              <a:rPr sz="1300" b="0">
                <a:solidFill>
                  <a:srgbClr val="CBD5E1"/>
                </a:solidFill>
              </a:rPr>
              <a:t>  ·  Economic calendar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685800"/>
            <a:ext cx="5852160" cy="1261872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800" b="1">
                <a:solidFill>
                  <a:srgbClr val="22C55E"/>
                </a:solidFill>
              </a:rPr>
              <a:t>GO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Continue the full pipeline.
Max positions = standard.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2103120"/>
            <a:ext cx="5852160" cy="1261872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800" b="1">
                <a:solidFill>
                  <a:srgbClr val="F59E0B"/>
                </a:solidFill>
              </a:rPr>
              <a:t>CAUTION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Continue but reduce max positions.
Higher bar for entry.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3520439"/>
            <a:ext cx="5852160" cy="1261872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l"/>
            <a:r>
              <a:rPr sz="1800" b="1">
                <a:solidFill>
                  <a:srgbClr val="EF4444"/>
                </a:solidFill>
              </a:rPr>
              <a:t>SKIP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Log halt to scan_results.
Exit immediately — no trades.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2 — Building the Candidate 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377440"/>
            <a:ext cx="3636264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Scanner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yfinance: RSI, MACD
SMA50/200, ATR, gap%
430+ tickers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7160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6344" y="2377440"/>
            <a:ext cx="3636264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Gap-up Injection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Alpaca Screener
tickers up ≥2% at open
merge if not scanned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6032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5215" y="2377440"/>
            <a:ext cx="3636264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news_intel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yfinance .calendar
20 workers · 30s timeout
earnings blackout today/tomorrow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19088"/>
            <a:ext cx="1164031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94A3B8"/>
                </a:solidFill>
              </a:rPr>
              <a:t>Earnings blackout removes any ticker reporting today or tomorrow from the candidate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3 — Filter, Rank, and Enrich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377440"/>
            <a:ext cx="2654046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Pre-filter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drop below min
technical_score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4941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4125" y="2377440"/>
            <a:ext cx="2654046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Garbage Filter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price &gt; 0 AND
rsi is not 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1595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779" y="2377440"/>
            <a:ext cx="2654046" cy="18288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F59E0B"/>
                </a:solidFill>
              </a:rPr>
              <a:t>ML Scorer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XGBoost: P(+2%)
re-ranks list
(optional)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0" y="30632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7434" y="2377440"/>
            <a:ext cx="2654046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Live Signals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Alpaca snapshot
ask · VWAP · RS vs SPY
day range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419088"/>
            <a:ext cx="1164031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94A3B8"/>
                </a:solidFill>
              </a:rPr>
              <a:t>ML Scorer is skipped if xgb_scorer.pkl is absent. It re-ranks but does not drop candidates.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4 — Claude Selects the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58368"/>
            <a:ext cx="3566160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l"/>
            <a:r>
              <a:rPr sz="1500" b="1">
                <a:solidFill>
                  <a:srgbClr val="3B82F6"/>
                </a:solidFill>
              </a:rPr>
              <a:t>What goes in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Ranked candidate list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technical_score per ticker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ML conviction score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Market summary (VIX, bias)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Sector guidance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news_context per ticker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Open positions (no doubles)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24528" y="1371600"/>
            <a:ext cx="3703320" cy="393192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/>
            <a:r>
              <a:rPr sz="3600" b="1">
                <a:solidFill>
                  <a:srgbClr val="F59E0B"/>
                </a:solidFill>
              </a:rPr>
              <a:t>Claude</a:t>
            </a:r>
          </a:p>
          <a:p>
            <a:pPr algn="ctr"/>
            <a:r>
              <a:rPr sz="1300" b="0">
                <a:solidFill>
                  <a:srgbClr val="CBD5E1"/>
                </a:solidFill>
              </a:rPr>
              <a:t>claude-sonnet-4-6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/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Prompt caching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(ephemeral)</a:t>
            </a:r>
          </a:p>
          <a:p>
            <a:pPr algn="ctr"/>
            <a:r>
              <a:rPr sz="800" b="0">
                <a:solidFill>
                  <a:srgbClr val="CBD5E1"/>
                </a:solidFill>
              </a:rPr>
              <a:t/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~$0.01–0.05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per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1089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658368"/>
            <a:ext cx="3337560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l"/>
            <a:r>
              <a:rPr sz="1500" b="1">
                <a:solidFill>
                  <a:srgbClr val="22C55E"/>
                </a:solidFill>
              </a:rPr>
              <a:t>What comes out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trades[]  (list of orders)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entry price  (limit)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target price  (take-profit)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stop_loss price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shares  (by confidence)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confidence:  HIGH / MED / LOW</a:t>
            </a:r>
          </a:p>
          <a:p>
            <a:pPr algn="l"/>
            <a:r>
              <a:rPr sz="1200" b="0">
                <a:solidFill>
                  <a:srgbClr val="CBD5E1"/>
                </a:solidFill>
              </a:rPr>
              <a:t>  ·  rationale  (text)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Stage 5 — Risk, Sizing, and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286000"/>
            <a:ext cx="2654046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EF4444"/>
                </a:solidFill>
              </a:rPr>
              <a:t>risk.run()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daily loss limit
max positions check
R:R ≥ 1.4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4941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4125" y="2286000"/>
            <a:ext cx="2654046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EF4444"/>
                </a:solidFill>
              </a:rPr>
              <a:t>sector_guard.run()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max 2 per sector
drops lowest confidence
SECTOR_MAP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1595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779" y="2286000"/>
            <a:ext cx="2654046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EF4444"/>
                </a:solidFill>
              </a:rPr>
              <a:t>atr_sizer.apply()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stop = ATR × 0.8
$150 constant risk
R:R ≥ 2.0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0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7434" y="2286000"/>
            <a:ext cx="2654046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EF4444"/>
                </a:solidFill>
              </a:rPr>
              <a:t>guardrails.filter()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live price sanity ±5%
buying power check
BUY-only enforcement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419088"/>
            <a:ext cx="11640312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94A3B8"/>
                </a:solidFill>
              </a:rPr>
              <a:t>Any trade failing a risk check is dropped. A STOP wider than the target distance is also dropped by atr_sizer.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The Bracket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3474720" cy="164592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600" b="1">
                <a:solidFill>
                  <a:srgbClr val="3B82F6"/>
                </a:solidFill>
              </a:rPr>
              <a:t>Entry Limit Order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hybrid bid/mid price</a:t>
            </a:r>
          </a:p>
          <a:p>
            <a:pPr algn="ctr"/>
            <a:r>
              <a:rPr sz="1100" b="0">
                <a:solidFill>
                  <a:srgbClr val="CBD5E1"/>
                </a:solidFill>
              </a:rPr>
              <a:t>fills when market reaches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2232" y="288036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097280"/>
            <a:ext cx="3474720" cy="164592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600" b="1">
                <a:solidFill>
                  <a:srgbClr val="22C55E"/>
                </a:solidFill>
              </a:rPr>
              <a:t>Take-Profit Leg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limit order at target price</a:t>
            </a:r>
          </a:p>
          <a:p>
            <a:pPr algn="ctr"/>
            <a:r>
              <a:rPr sz="1100" b="0">
                <a:solidFill>
                  <a:srgbClr val="CBD5E1"/>
                </a:solidFill>
              </a:rPr>
              <a:t>TARGET_PCT = 8%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3200400"/>
            <a:ext cx="3474720" cy="164592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600" b="1">
                <a:solidFill>
                  <a:srgbClr val="EF4444"/>
                </a:solidFill>
              </a:rPr>
              <a:t>Stop-Loss Leg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stop order at stop_loss price</a:t>
            </a:r>
          </a:p>
          <a:p>
            <a:pPr algn="ctr"/>
            <a:r>
              <a:rPr sz="1100" b="0">
                <a:solidFill>
                  <a:srgbClr val="CBD5E1"/>
                </a:solidFill>
              </a:rPr>
              <a:t>stop = ATR × 0.8  (floor: 0.5%)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42232" y="443484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5074920"/>
            <a:ext cx="3474720" cy="13716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/>
            <a:r>
              <a:rPr sz="1600" b="1">
                <a:solidFill>
                  <a:srgbClr val="F59E0B"/>
                </a:solidFill>
              </a:rPr>
              <a:t>Native Trailing Stop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Alpaca server-side, TRAIL_PCT = 1%</a:t>
            </a:r>
          </a:p>
          <a:p>
            <a:pPr algn="ctr"/>
            <a:r>
              <a:rPr sz="1100" b="0">
                <a:solidFill>
                  <a:srgbClr val="CBD5E1"/>
                </a:solidFill>
              </a:rPr>
              <a:t>submitted after fill confirms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1097280"/>
            <a:ext cx="3291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59E0B"/>
                </a:solidFill>
              </a:rPr>
              <a:t>$150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constant dollar risk / trade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49640" y="2148839"/>
            <a:ext cx="3291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59E0B"/>
                </a:solidFill>
              </a:rPr>
              <a:t>R:R ≥ 2.0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required after ATR sizing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3200399"/>
            <a:ext cx="3291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59E0B"/>
                </a:solidFill>
              </a:rPr>
              <a:t>8%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profit ceiling (TARGET_PCT)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4251959"/>
            <a:ext cx="3291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59E0B"/>
                </a:solidFill>
              </a:rPr>
              <a:t>-$500</a:t>
            </a:r>
          </a:p>
          <a:p>
            <a:pPr algn="l"/>
            <a:r>
              <a:rPr sz="1100" b="0">
                <a:solidFill>
                  <a:srgbClr val="94A3B8"/>
                </a:solidFill>
              </a:rPr>
              <a:t>daily loss limit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Intraday — Five Ways a Position Closes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2286000"/>
            <a:ext cx="2064715" cy="182880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22C55E"/>
                </a:solidFill>
              </a:rPr>
              <a:t>TARGET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price ≥ target_price
Market sell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5611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4795" y="2286000"/>
            <a:ext cx="2064715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EF4444"/>
                </a:solidFill>
              </a:rPr>
              <a:t>STOP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price ≤ stop_loss
Market sell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32934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062118" y="2286000"/>
            <a:ext cx="2064715" cy="18288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F59E0B"/>
                </a:solidFill>
              </a:rPr>
              <a:t>NATIVE_TRAIL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Alpaca server-side
trailing stop fires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90257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419441" y="2286000"/>
            <a:ext cx="2064715" cy="182880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22C55E"/>
                </a:solidFill>
              </a:rPr>
              <a:t>BONUS_TARGET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Daily P&amp;L ≥ bonus
Close all open 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7580" y="29718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76764" y="2286000"/>
            <a:ext cx="2064715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400" b="1">
                <a:solidFill>
                  <a:srgbClr val="EF4444"/>
                </a:solidFill>
              </a:rPr>
              <a:t>EOD</a:t>
            </a:r>
          </a:p>
          <a:p>
            <a:pPr algn="ctr"/>
            <a:r>
              <a:rPr sz="1000" b="0">
                <a:solidFill>
                  <a:srgbClr val="CBD5E1"/>
                </a:solidFill>
              </a:rPr>
              <a:t>3:55 PM ET
Force-close remaining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394960"/>
            <a:ext cx="114574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Position check runs every 15 minutes from 10:00 AM to 3:59 PM ET  ·  DB updated with realized_pnl, close_reason, mae, mfe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73152"/>
            <a:ext cx="11640312" cy="47548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200" b="1">
                <a:solidFill>
                  <a:srgbClr val="FFFFFF"/>
                </a:solidFill>
              </a:rPr>
              <a:t>End of Day + Key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914400"/>
            <a:ext cx="2654046" cy="1828800"/>
          </a:xfrm>
          <a:prstGeom prst="rect">
            <a:avLst/>
          </a:prstGeom>
          <a:solidFill>
            <a:srgbClr val="7F1D1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EF4444"/>
                </a:solidFill>
              </a:rPr>
              <a:t>Force Close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cancel_all_orders
close_all_positions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64941" y="1600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4125" y="914400"/>
            <a:ext cx="2654046" cy="1828800"/>
          </a:xfrm>
          <a:prstGeom prst="rect">
            <a:avLst/>
          </a:prstGeom>
          <a:solidFill>
            <a:srgbClr val="1E3A8A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3B82F6"/>
                </a:solidFill>
              </a:rPr>
              <a:t>Reconcile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backfill fills
mark unfilled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1595" y="1600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0779" y="914400"/>
            <a:ext cx="2654046" cy="1828800"/>
          </a:xfrm>
          <a:prstGeom prst="rect">
            <a:avLst/>
          </a:prstGeom>
          <a:solidFill>
            <a:srgbClr val="14532D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22C55E"/>
                </a:solidFill>
              </a:rPr>
              <a:t>Performance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P&amp;L, win_rate
friction_gap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0" y="160020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7434" y="914400"/>
            <a:ext cx="2654046" cy="1828800"/>
          </a:xfrm>
          <a:prstGeom prst="rect">
            <a:avLst/>
          </a:prstGeom>
          <a:solidFill>
            <a:srgbClr val="78350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1600" b="1">
                <a:solidFill>
                  <a:srgbClr val="F59E0B"/>
                </a:solidFill>
              </a:rPr>
              <a:t>Alert</a:t>
            </a:r>
          </a:p>
          <a:p>
            <a:pPr algn="ctr"/>
            <a:r>
              <a:rPr sz="1200" b="0">
                <a:solidFill>
                  <a:srgbClr val="CBD5E1"/>
                </a:solidFill>
              </a:rPr>
              <a:t>Gmail EOD
ntfy.sh push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TOTAL_CAPITAL  </a:t>
            </a:r>
            <a:r>
              <a:rPr sz="1100" b="0">
                <a:solidFill>
                  <a:srgbClr val="F59E0B"/>
                </a:solidFill>
              </a:rPr>
              <a:t>$50,000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3375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DAILY_PROFIT_TARGET  </a:t>
            </a:r>
            <a:r>
              <a:rPr sz="1100" b="0">
                <a:solidFill>
                  <a:srgbClr val="F59E0B"/>
                </a:solidFill>
              </a:rPr>
              <a:t>$500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947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MAX_POSITIONS  </a:t>
            </a:r>
            <a:r>
              <a:rPr sz="1100" b="0">
                <a:solidFill>
                  <a:srgbClr val="F59E0B"/>
                </a:solidFill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2519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POSITION_SIZE  </a:t>
            </a:r>
            <a:r>
              <a:rPr sz="1100" b="0">
                <a:solidFill>
                  <a:srgbClr val="F59E0B"/>
                </a:solidFill>
              </a:rPr>
              <a:t>$3.5K / $3K / $2.5K  (H/M/L)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7091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TARGET_PCT  </a:t>
            </a:r>
            <a:r>
              <a:rPr sz="1100" b="0">
                <a:solidFill>
                  <a:srgbClr val="F59E0B"/>
                </a:solidFill>
              </a:rPr>
              <a:t>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1663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ATR_STOP_MULTIPLIER  </a:t>
            </a:r>
            <a:r>
              <a:rPr sz="1100" b="0">
                <a:solidFill>
                  <a:srgbClr val="F59E0B"/>
                </a:solidFill>
              </a:rPr>
              <a:t>0.8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8803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ATR_STOP_FLOOR  </a:t>
            </a:r>
            <a:r>
              <a:rPr sz="1100" b="0">
                <a:solidFill>
                  <a:srgbClr val="F59E0B"/>
                </a:solidFill>
              </a:rPr>
              <a:t>0.5%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3375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MAX_LOSS_DOLLARS  </a:t>
            </a:r>
            <a:r>
              <a:rPr sz="1100" b="0">
                <a:solidFill>
                  <a:srgbClr val="F59E0B"/>
                </a:solidFill>
              </a:rPr>
              <a:t>$150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947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MIN_REWARD_RISK  </a:t>
            </a:r>
            <a:r>
              <a:rPr sz="1100" b="0">
                <a:solidFill>
                  <a:srgbClr val="F59E0B"/>
                </a:solidFill>
              </a:rPr>
              <a:t>2.0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2519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DAILY_LOSS_LIMIT  </a:t>
            </a:r>
            <a:r>
              <a:rPr sz="1100" b="0">
                <a:solidFill>
                  <a:srgbClr val="F59E0B"/>
                </a:solidFill>
              </a:rPr>
              <a:t>-$500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7091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TRAIL_PCT  </a:t>
            </a:r>
            <a:r>
              <a:rPr sz="1100" b="0">
                <a:solidFill>
                  <a:srgbClr val="F59E0B"/>
                </a:solidFill>
              </a:rPr>
              <a:t>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166360"/>
            <a:ext cx="5577840" cy="420624"/>
          </a:xfrm>
          <a:prstGeom prst="rect">
            <a:avLst/>
          </a:prstGeom>
          <a:solidFill>
            <a:srgbClr val="1E293B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36576"/>
          <a:lstStyle/>
          <a:p>
            <a:pPr algn="l"/>
            <a:r>
              <a:rPr sz="1100" b="1">
                <a:solidFill>
                  <a:srgbClr val="3B82F6"/>
                </a:solidFill>
              </a:rPr>
              <a:t>STRATEGY_MIN_SCORE  </a:t>
            </a:r>
            <a:r>
              <a:rPr sz="1100" b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3112" y="6528816"/>
            <a:ext cx="822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