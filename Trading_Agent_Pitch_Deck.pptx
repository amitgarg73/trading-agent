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AI-Powered Trading Research
for the Individual Investor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47B20"/>
                </a:solidFill>
                <a:latin typeface="Calibri"/>
              </a:rPr>
              <a:t>Institutional-grade signal synthesis — finally accessible to individuals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572000"/>
            <a:ext cx="5029200" cy="4572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  <a:latin typeface="Calibri"/>
              </a:rPr>
              <a:t>Amit Garg  ·  amitgar@hotmail.com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47B20"/>
                </a:solidFill>
                <a:latin typeface="Calibri"/>
              </a:rPr>
              <a:t>Individual investors are making decisions with yesterday's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66160" cy="347472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66160" cy="50292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Information
Asymmetry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4F7"/>
                </a:solidFill>
                <a:latin typeface="Calibri"/>
              </a:rPr>
              <a:t>Institutional desks have real-time signals:
earnings drift, insider activity, options flow.
Retail gets chart patterns.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566160" cy="347472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566160" cy="50292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Signal
Overload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688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4F7"/>
                </a:solidFill>
                <a:latin typeface="Calibri"/>
              </a:rPr>
              <a:t>1,000+ screeners. Thousands of technical
indicators. No synthesis layer to say
what actually matters today.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566160" cy="347472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566160" cy="50292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Execution
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688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4F7"/>
                </a:solidFill>
                <a:latin typeface="Calibri"/>
              </a:rPr>
              <a:t>Even when a retail trader identifies a setup,
no automated discipline around entries,
stops, or position sizing.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47B20"/>
                </a:solidFill>
                <a:latin typeface="Calibri"/>
              </a:rPr>
              <a:t>The result: 80% of individual traders underperform the index they're trying to beat.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Calibri"/>
              </a:rPr>
              <a:t>Confidential — May 2026   |  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47B20"/>
                </a:solidFill>
                <a:latin typeface="Calibri"/>
              </a:rPr>
              <a:t>A large, underserved market at the intersection of AI and retail investing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383280" cy="365760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99"/>
                </a:solidFill>
                <a:latin typeface="Calibri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$47B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Global retail trading
platform market (2025)
17.2% CAGR through 2030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828800"/>
            <a:ext cx="3383280" cy="36576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965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99"/>
                </a:solidFill>
                <a:latin typeface="Calibri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37744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$8.2B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2461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Active algorithmic &amp;
quant retail traders
(seeking signal + automation)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828800"/>
            <a:ext cx="3383280" cy="365760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1965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99"/>
                </a:solidFill>
                <a:latin typeface="Calibri"/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37744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$120M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32461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US-based active traders
willing to pay for
AI research signals ($49–99/mo)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99"/>
                </a:solidFill>
                <a:latin typeface="Calibri"/>
              </a:rPr>
              <a:t>54M+ retail brokerage accounts in the US  ·  Robinhood alone: 24M+ active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Calibri"/>
              </a:rPr>
              <a:t>Confidential — May 2026   |  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47B20"/>
                </a:solidFill>
                <a:latin typeface="Calibri"/>
              </a:rPr>
              <a:t>An AI research co-pilot that synthesizes real market signals into daily trade plans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7B20"/>
                </a:solidFill>
                <a:latin typeface="Calibri"/>
              </a:rP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2F4F7"/>
                </a:solidFill>
                <a:latin typeface="Calibri"/>
              </a:rPr>
              <a:t>✓  Monitors the market every morning before open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2F4F7"/>
                </a:solidFill>
                <a:latin typeface="Calibri"/>
              </a:rPr>
              <a:t>✓  Applies multiple independent signal filters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2F4F7"/>
                </a:solidFill>
                <a:latin typeface="Calibri"/>
              </a:rPr>
              <a:t>✓  Synthesizes signals with AI reasoning to rank setups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2F4F7"/>
                </a:solidFill>
                <a:latin typeface="Calibri"/>
              </a:rPr>
              <a:t>✓  Produces a daily briefing: top setups with entry, target, stop, and conviction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2F4F7"/>
                </a:solidFill>
                <a:latin typeface="Calibri"/>
              </a:rPr>
              <a:t>✓  Runs automated discipline: bracket orders, trailing exits, position limits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2F4F7"/>
                </a:solidFill>
                <a:latin typeface="Calibri"/>
              </a:rPr>
              <a:t>✓  Delivers an end-of-day performance audit with full decision trail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88899"/>
                </a:solidFill>
                <a:latin typeface="Calibri"/>
              </a:rPr>
              <a:t>What It Is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888899"/>
                </a:solidFill>
                <a:latin typeface="Calibri"/>
              </a:rPr>
              <a:t>✗  Not a black box — every decision is auditable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888899"/>
                </a:solidFill>
                <a:latin typeface="Calibri"/>
              </a:rPr>
              <a:t>✗  Not another chart screener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888899"/>
                </a:solidFill>
                <a:latin typeface="Calibri"/>
              </a:rPr>
              <a:t>✗  Not AI generating random trade ideas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888899"/>
                </a:solidFill>
                <a:latin typeface="Calibri"/>
              </a:rPr>
              <a:t>✗  Not a robo-advisor managing a passive portfolio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888899"/>
                </a:solidFill>
                <a:latin typeface="Calibri"/>
              </a:rPr>
              <a:t>✗  Not dependent on a single signal or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9048" y="1828800"/>
            <a:ext cx="36576" cy="438912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Calibri"/>
              </a:rPr>
              <a:t>Confidential — May 2026   |  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47B20"/>
                </a:solidFill>
                <a:latin typeface="Calibri"/>
              </a:rPr>
              <a:t>A five-stage pipeline — from market open to end-of-day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2057400" cy="64008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38528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Signal
Capture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60320"/>
            <a:ext cx="2057400" cy="329184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Pre-market: multiple independent market signals gathered automatically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08483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7B2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920240"/>
            <a:ext cx="2057400" cy="64008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938528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193852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
Synthesis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560320"/>
            <a:ext cx="2057400" cy="329184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69748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AI reasoning layer weighs confluence of signals, filters low-conviction setups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08483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7B2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1920240"/>
            <a:ext cx="2057400" cy="64008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938528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193852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Risk
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2560320"/>
            <a:ext cx="2057400" cy="329184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69748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Position sizing, sector concentration, and capital guardrails enforced automatically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08483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7B20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1920240"/>
            <a:ext cx="2057400" cy="64008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1938528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193852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Execution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2560320"/>
            <a:ext cx="2057400" cy="329184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269748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Bracketed entries with automated trailing exits — no emotional override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08483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7B20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1920240"/>
            <a:ext cx="2057400" cy="64008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1938528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193852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Audit &amp;
Learning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2560320"/>
            <a:ext cx="2057400" cy="329184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46920" y="269748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Full decision trail logged. Daily performance audit. Signal quality tracked over time.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7B20"/>
                </a:solidFill>
                <a:latin typeface="Calibri"/>
              </a:rPr>
              <a:t>Fully automated. Runs on a schedule. No human intervention required during market hours.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Calibri"/>
              </a:rPr>
              <a:t>Confidential — May 2026   |  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47B20"/>
                </a:solidFill>
                <a:latin typeface="Calibri"/>
              </a:rPr>
              <a:t>Four compounding advantages — none individually unique, combination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577840" cy="201168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09728" cy="201168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Real Signals,
Not Technicals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Uses academically-documented market anomalies with known predictive power — not RSI crossovers that every retail screener already runs.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577840" cy="201168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109728" cy="201168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AI as
Synthesizer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AI doesn't generate signals — it synthesizes across multiple independent signals. When PEAD + institutional activity + momentum align, AI produces a conviction-ranked plan nobody else is generating.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577840" cy="201168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109728" cy="201168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519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Full
Auditability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34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Every decision is logged with the reasoning chain. Users can read exactly why each trade was selected. No black box — this is the foundation of trust and a future regulatory moat.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114800"/>
            <a:ext cx="5577840" cy="201168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114800"/>
            <a:ext cx="109728" cy="201168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2519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Operational
Rigor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9834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Health checks, guardrails, sector limits, exit discipline, performance audits. The system runs without human monitoring and fails safely. Competitors have none of this infrastructure.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Calibri"/>
              </a:rPr>
              <a:t>Confidential — May 2026   |  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47B20"/>
                </a:solidFill>
                <a:latin typeface="Calibri"/>
              </a:rPr>
              <a:t>Nobody owns the combination we've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1430000" cy="45720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019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B20"/>
                </a:solidFill>
                <a:latin typeface="Calibri"/>
              </a:rPr>
              <a:t>Real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9019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B20"/>
                </a:solidFill>
                <a:latin typeface="Calibri"/>
              </a:rPr>
              <a:t>AI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019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B20"/>
                </a:solidFill>
                <a:latin typeface="Calibri"/>
              </a:rPr>
              <a:t>Full Audit Trail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9019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B20"/>
                </a:solidFill>
                <a:latin typeface="Calibri"/>
              </a:rPr>
              <a:t>Auto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19019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B20"/>
                </a:solidFill>
                <a:latin typeface="Calibri"/>
              </a:rPr>
              <a:t>Operational Infra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31720"/>
            <a:ext cx="11430000" cy="612648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Composer / Streak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423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23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23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423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F4F7"/>
                </a:solidFill>
                <a:latin typeface="Calibri"/>
              </a:rPr>
              <a:t>Partial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423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90087"/>
            <a:ext cx="11430000" cy="612648"/>
          </a:xfrm>
          <a:prstGeom prst="rect">
            <a:avLst/>
          </a:prstGeom>
          <a:solidFill>
            <a:srgbClr val="12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081527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QuantConnect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081527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081527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081527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F4F7"/>
                </a:solidFill>
                <a:latin typeface="Calibri"/>
              </a:rPr>
              <a:t>Partial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081527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7A3A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3081527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48456"/>
            <a:ext cx="11430000" cy="612648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398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TradingAgents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373989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73989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F4F7"/>
                </a:solidFill>
                <a:latin typeface="Calibri"/>
              </a:rPr>
              <a:t>Partial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73989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73989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373989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306824"/>
            <a:ext cx="11430000" cy="612648"/>
          </a:xfrm>
          <a:prstGeom prst="rect">
            <a:avLst/>
          </a:prstGeom>
          <a:solidFill>
            <a:srgbClr val="12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39826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Alpaca MCP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439826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439826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F4F7"/>
                </a:solidFill>
                <a:latin typeface="Calibri"/>
              </a:rPr>
              <a:t>Natural lang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39826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439826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7A3A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43982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965192"/>
            <a:ext cx="11430000" cy="612648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05663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This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5056631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5056631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056631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5056631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505663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Calibri"/>
              </a:rPr>
              <a:t>Confidential — May 2026   |  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Traction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47B20"/>
                </a:solidFill>
                <a:latin typeface="Calibri"/>
              </a:rPr>
              <a:t>Paper validation underway — real capital deployment gate: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560320" cy="182880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56032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99"/>
                </a:solidFill>
                <a:latin typeface="Calibri"/>
              </a:rPr>
              <a:t>Win-day rate
(last 30 days)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2560320" cy="182880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828800"/>
            <a:ext cx="256032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$716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99"/>
                </a:solidFill>
                <a:latin typeface="Calibri"/>
              </a:rPr>
              <a:t>Avg daily P&amp;L
on paper ($100K)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2560320" cy="182880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828800"/>
            <a:ext cx="256032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0.78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926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99"/>
                </a:solidFill>
                <a:latin typeface="Calibri"/>
              </a:rPr>
              <a:t>ML signal
AUC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828800"/>
            <a:ext cx="2560320" cy="182880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828800"/>
            <a:ext cx="256032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v5.7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926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99"/>
                </a:solidFill>
                <a:latin typeface="Calibri"/>
              </a:rPr>
              <a:t>Production
version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7B20"/>
                </a:solidFill>
                <a:latin typeface="Calibri"/>
              </a:rPr>
              <a:t>System Milestones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4340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3A"/>
                </a:solidFill>
                <a:latin typeface="Calibri"/>
              </a:rPr>
              <a:t>✓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343400"/>
            <a:ext cx="9966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Fully automated pipeline — premarket, intraday, end-of-day — running on GitHub Actions schedule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72584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3A"/>
                </a:solidFill>
                <a:latin typeface="Calibri"/>
              </a:rPr>
              <a:t>✓ 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72584"/>
            <a:ext cx="9966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Paper trading on Alpaca broker API — bracket orders with native trailing stop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017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3A"/>
                </a:solidFill>
                <a:latin typeface="Calibri"/>
              </a:rPr>
              <a:t>✓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001768"/>
            <a:ext cx="9966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Real-time dashboard: signal quality, position monitoring, agent performance scorecard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33095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3A"/>
                </a:solidFill>
                <a:latin typeface="Calibri"/>
              </a:rPr>
              <a:t>✓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330952"/>
            <a:ext cx="9966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ML signal ranker trained and integrated — AUC 0.78 on held-out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0136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B20"/>
                </a:solidFill>
                <a:latin typeface="Calibri"/>
              </a:rPr>
              <a:t>⏳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660136"/>
            <a:ext cx="9966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June 1, 2026: 2-week live validation gate — pass criteria before real capital deployment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Calibri"/>
              </a:rPr>
              <a:t>Confidential — May 2026   |  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47B20"/>
                </a:solidFill>
                <a:latin typeface="Calibri"/>
              </a:rPr>
              <a:t>Three paths — sequenced by validation confidence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3657600" cy="448056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657600" cy="50292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Path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20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Now →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Personal Alpha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$100K paper → real capital once June gate passes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93592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Goal: $500–700/day consistent cash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15384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55% win rate × 3:1 R:R = $48 EV per trade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37176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15 trades/day = $720 expected daily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58968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Scale via compounding — same % on growing capital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3657600" cy="448056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50292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87451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Path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920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2027 → 2028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LP Fund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971800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12 months audited live returns required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593592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Raise $500K–$2M from accredited investors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215384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Below $150M AUM — ERA exemption applies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837176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20% carry on profits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458968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Sharpe ≥ 1.5 over 200+ live trades as entry gate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828800"/>
            <a:ext cx="3657600" cy="448056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828800"/>
            <a:ext cx="3657600" cy="502920"/>
          </a:xfrm>
          <a:prstGeom prst="rect">
            <a:avLst/>
          </a:prstGeom>
          <a:solidFill>
            <a:srgbClr val="6A1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87451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Path 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1920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2027 → beyond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SaaS Signal Product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971800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Daily AI research digest — top 3–5 setups with reasoning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593592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$49–$99/month per subscriber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215384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1,000 subscribers = $600K–$1.2M ARR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837176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No broker-dealer registration needed (research product)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458968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Leverages existing signal engine +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Calibri"/>
              </a:rPr>
              <a:t>Confidential — May 2026   |  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Road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47B20"/>
                </a:solidFill>
                <a:latin typeface="Calibri"/>
              </a:rPr>
              <a:t>Phased — each phase gate-locked to validated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743200" cy="59436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762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Now → Jun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23160"/>
            <a:ext cx="2743200" cy="41148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B20"/>
                </a:solidFill>
                <a:latin typeface="Calibri"/>
              </a:rPr>
              <a:t>Validate execution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2743200" cy="338328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Native trailing stop confirmed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7588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Win rate ≥ 80% on paper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25696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VWAP signal quality measured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75504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No integrity failures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651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8899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828800"/>
            <a:ext cx="2743200" cy="5943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8745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1762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Jun → Sep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423160"/>
            <a:ext cx="2743200" cy="41148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2468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B20"/>
                </a:solidFill>
                <a:latin typeface="Calibri"/>
              </a:rPr>
              <a:t>Expand signal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2834640"/>
            <a:ext cx="2743200" cy="338328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2926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Post-earnings drift scanner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67588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Insider buying feed (SEC EDGAR)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425696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Unusual options activity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175504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Multi-day hold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651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8899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828800"/>
            <a:ext cx="2743200" cy="594360"/>
          </a:xfrm>
          <a:prstGeom prst="rect">
            <a:avLst/>
          </a:prstGeom>
          <a:solidFill>
            <a:srgbClr val="2A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8745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1762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Sep → Dec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423160"/>
            <a:ext cx="2743200" cy="41148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468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B20"/>
                </a:solidFill>
                <a:latin typeface="Calibri"/>
              </a:rPr>
              <a:t>Real capital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834640"/>
            <a:ext cx="2743200" cy="338328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2926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Deploy $10K–$25K real money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67588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Track paper-to-live degradation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425696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Validate live fill 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175504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Scale if win rate holds ±10%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2651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8899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1828800"/>
            <a:ext cx="2743200" cy="594360"/>
          </a:xfrm>
          <a:prstGeom prst="rect">
            <a:avLst/>
          </a:prstGeom>
          <a:solidFill>
            <a:srgbClr val="6A1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18745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21762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2027+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2423160"/>
            <a:ext cx="2743200" cy="41148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2468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B20"/>
                </a:solidFill>
                <a:latin typeface="Calibri"/>
              </a:rPr>
              <a:t>Product or fund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2834640"/>
            <a:ext cx="2743200" cy="338328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0" y="2926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Choose Path A / B / C based on live Sharpe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367588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If SaaS: build subscription UI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4425696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If fund: legal structure + LP reporting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5175504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• If personal: compound capital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Calibri"/>
              </a:rPr>
              <a:t>Confidential — May 2026   | 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47B20"/>
                </a:solidFill>
                <a:latin typeface="Calibri"/>
              </a:rPr>
              <a:t>Product + engineering + operational depth — rare combination for this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Amit Garg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99"/>
                </a:solidFill>
                <a:latin typeface="Calibri"/>
              </a:rPr>
              <a:t>VP / Head of Product  ·  25 years in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• ServiceNow 2012–2026: built $100M+ product 0-to-1 in 12 months; scaled team 0→60+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47288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• Owned internal control plane: 45+ data centers, 99.99% availability, 1.8K enterprise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14215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• Microsoft 1999–2012; B.Tech CS — started as a developer, reads and writes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81144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• AIOps, observability, data platforms, automated workflows — exactly this problem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48072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• Certified AI Product Manager  ·  PMP  ·  Two ServiceNow Technology Awards for Innovation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394960" cy="448056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539496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7B20"/>
                </a:solidFill>
                <a:latin typeface="Calibri"/>
              </a:rPr>
              <a:t>Why Uniquely Qualified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B20"/>
                </a:solidFill>
                <a:latin typeface="Calibri"/>
              </a:rP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5146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Built production-grade automated systems at scale — not a side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B20"/>
                </a:solidFill>
                <a:latin typeface="Calibri"/>
              </a:rPr>
              <a:t>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2004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Knows how to take a research prototype to a product users pay 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886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B20"/>
                </a:solidFill>
                <a:latin typeface="Calibri"/>
              </a:rPr>
              <a:t>Technical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8862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Wrote the agent pipeline, ML model, and broker integration end-to-end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B20"/>
                </a:solidFill>
                <a:latin typeface="Calibri"/>
              </a:rPr>
              <a:t>Investing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5720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Personal capital at stake — aligned incentive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257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B20"/>
                </a:solidFill>
                <a:latin typeface="Calibri"/>
              </a:rPr>
              <a:t>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52578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7"/>
                </a:solidFill>
                <a:latin typeface="Calibri"/>
              </a:rPr>
              <a:t>Enterprise product and SRE network — natural early adopter base for Scenario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Calibri"/>
              </a:rPr>
              <a:t>Confidential — May 2026   | 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2F4F7"/>
                </a:solidFill>
                <a:latin typeface="Calibri"/>
              </a:rPr>
              <a:t>We're at an inflection point. The infrastructure is built. The validation gate opens June 1.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3566160" cy="338328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3566160" cy="50292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91440" cy="338328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7B20"/>
                </a:solidFill>
                <a:latin typeface="Calibri"/>
              </a:rPr>
              <a:t>Strategic
Conversation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4F7"/>
                </a:solidFill>
                <a:latin typeface="Calibri"/>
              </a:rPr>
              <a:t>If you've seen similar systems scale — what breaks between paper and real money? We want to talk to people who've navigated this.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74519"/>
            <a:ext cx="3566160" cy="338328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874519"/>
            <a:ext cx="3566160" cy="50292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874519"/>
            <a:ext cx="91440" cy="338328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7B20"/>
                </a:solidFill>
                <a:latin typeface="Calibri"/>
              </a:rPr>
              <a:t>Early Access
&amp;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87168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4F7"/>
                </a:solidFill>
                <a:latin typeface="Calibri"/>
              </a:rPr>
              <a:t>Looking for 5–10 active traders to use the daily briefing and provide signal quality feedback before we open more broadly.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874519"/>
            <a:ext cx="3566160" cy="3383280"/>
          </a:xfrm>
          <a:prstGeom prst="rect">
            <a:avLst/>
          </a:prstGeom>
          <a:solidFill>
            <a:srgbClr val="0F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874519"/>
            <a:ext cx="3566160" cy="50292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874519"/>
            <a:ext cx="91440" cy="338328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7B20"/>
                </a:solidFill>
                <a:latin typeface="Calibri"/>
              </a:rPr>
              <a:t>Investment
Interest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487168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4F7"/>
                </a:solidFill>
                <a:latin typeface="Calibri"/>
              </a:rPr>
              <a:t>If traction metrics hold after June gate: raising a seed round to accelerate signal layer expansion and SaaS product build.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1124712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Amit Garg   ·   amitgar@hotmail.com   ·   linkedin.com/in/mramitgarg   ·   Sammamish, WA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  <a:latin typeface="Calibri"/>
              </a:rPr>
              <a:t>Confidential — not for distribution  ·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